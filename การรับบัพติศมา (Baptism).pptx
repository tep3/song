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7AC627-D6FE-46A8-9649-FB25DAD2B9BA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7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37D0B3-B855-46B2-8E1D-1CFBA5EB0BD9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861517-8A39-4CEC-B853-45D4CAF3D79C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C56A2E-DEAF-49C2-BD0B-93F2B0614393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CAC14E-BBE4-420A-832E-D8A2D3864487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26637D-93B1-4F13-97C7-B2EE5E44CAD4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5C454CF-25E6-410F-B987-5D1CB3C0AB84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243DC8-C240-4350-AB14-EB209511DF0E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FD6DE3-6285-41A1-8D5E-A0FB6B894138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82F188-51C5-4058-88A7-2150FEDE701A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68155B-55A5-48F2-BE51-06656CD2147F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5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Google Shape;85;p13"/>
          <p:cNvSpPr/>
          <p:nvPr/>
        </p:nvSpPr>
        <p:spPr>
          <a:xfrm>
            <a:off x="762120" y="762120"/>
            <a:ext cx="4800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hi-IN" sz="3600" strike="noStrike" u="none">
                <a:solidFill>
                  <a:srgbClr val="0369a1"/>
                </a:solidFill>
                <a:effectLst/>
                <a:uFillTx/>
                <a:latin typeface="Prompt SemiBold"/>
                <a:cs typeface="Prompt SemiBold"/>
              </a:rPr>
              <a:t>ความหมายของบัพติศมา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Google Shape;86;p13" descr="image.png"/>
          <p:cNvPicPr/>
          <p:nvPr/>
        </p:nvPicPr>
        <p:blipFill>
          <a:blip r:embed="rId2"/>
          <a:stretch/>
        </p:blipFill>
        <p:spPr>
          <a:xfrm>
            <a:off x="6095880" y="0"/>
            <a:ext cx="6095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Google Shape;87;p13"/>
          <p:cNvSpPr/>
          <p:nvPr/>
        </p:nvSpPr>
        <p:spPr>
          <a:xfrm>
            <a:off x="762120" y="275940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0" lang="hi-IN" sz="18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คำว่าบัพติศมา มาจากภาษากรีก </a:t>
            </a:r>
            <a:r>
              <a:rPr b="1" lang="en-US" sz="1800" strike="noStrike" u="none">
                <a:solidFill>
                  <a:srgbClr val="0284c7"/>
                </a:solidFill>
                <a:effectLst/>
                <a:uFillTx/>
                <a:latin typeface="Sarabun"/>
                <a:ea typeface="Sarabun"/>
              </a:rPr>
              <a:t>"Baptizo"</a:t>
            </a:r>
            <a:br>
              <a:rPr sz="1800"/>
            </a:br>
            <a:r>
              <a:rPr b="0" lang="en-US" sz="18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 </a:t>
            </a:r>
            <a:r>
              <a:rPr b="0" lang="hi-IN" sz="18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แปลว่า การจุ่ม หรือ การย้อม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8;p13"/>
          <p:cNvSpPr/>
          <p:nvPr/>
        </p:nvSpPr>
        <p:spPr>
          <a:xfrm>
            <a:off x="762120" y="372888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0" lang="hi-IN" sz="18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บัพติศมามีความหมายที่ลึกซึ้ง คือการแสดงออกว่า </a:t>
            </a:r>
            <a:r>
              <a:rPr b="1" lang="hi-IN" sz="1800" strike="noStrike" u="none">
                <a:solidFill>
                  <a:srgbClr val="0284c7"/>
                </a:solidFill>
                <a:effectLst/>
                <a:uFillTx/>
                <a:latin typeface="Sarabun"/>
                <a:cs typeface="Sarabun"/>
              </a:rPr>
              <a:t>ตัวเก่าของเราได้ตายไปแล้ว</a:t>
            </a:r>
            <a:r>
              <a:rPr b="0" lang="en-US" sz="18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 และถูกฝังไว้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9;p13"/>
          <p:cNvSpPr/>
          <p:nvPr/>
        </p:nvSpPr>
        <p:spPr>
          <a:xfrm>
            <a:off x="762120" y="469836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0" lang="hi-IN" sz="18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และได้รับการ </a:t>
            </a:r>
            <a:r>
              <a:rPr b="1" lang="hi-IN" sz="1800" strike="noStrike" u="none">
                <a:solidFill>
                  <a:srgbClr val="0284c7"/>
                </a:solidFill>
                <a:effectLst/>
                <a:uFillTx/>
                <a:latin typeface="Sarabun"/>
                <a:cs typeface="Sarabun"/>
              </a:rPr>
              <a:t>ชุบชีวิตโดยพระเยซูคริสต์</a:t>
            </a:r>
            <a:r>
              <a:rPr b="0" lang="en-US" sz="18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 ให้ฟื้นขึ้นมาเป็นคนใหม่ มีชีวิตใหม่ในพระองค์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94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Google Shape;95;p14"/>
          <p:cNvSpPr/>
          <p:nvPr/>
        </p:nvSpPr>
        <p:spPr>
          <a:xfrm>
            <a:off x="1562040" y="353520"/>
            <a:ext cx="9067320" cy="615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hi-IN" sz="1200" strike="noStrike" u="none">
                <a:solidFill>
                  <a:srgbClr val="0284c7"/>
                </a:solidFill>
                <a:effectLst/>
                <a:uFillTx/>
                <a:latin typeface="Sarabun"/>
                <a:cs typeface="Sarabun"/>
              </a:rPr>
              <a:t>โรม </a:t>
            </a:r>
            <a:r>
              <a:rPr b="1" lang="en-US" sz="1200" strike="noStrike" u="none">
                <a:solidFill>
                  <a:srgbClr val="0284c7"/>
                </a:solidFill>
                <a:effectLst/>
                <a:uFillTx/>
                <a:latin typeface="Sarabun"/>
                <a:ea typeface="Sarabun"/>
              </a:rPr>
              <a:t>6:3-5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6;p14"/>
          <p:cNvSpPr/>
          <p:nvPr/>
        </p:nvSpPr>
        <p:spPr>
          <a:xfrm>
            <a:off x="2133720" y="353520"/>
            <a:ext cx="7924320" cy="53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0f172a"/>
                </a:solidFill>
                <a:effectLst/>
                <a:uFillTx/>
                <a:latin typeface="Sarabun Medium"/>
                <a:ea typeface="Sarabun Medium"/>
              </a:rPr>
              <a:t>[3] </a:t>
            </a:r>
            <a:r>
              <a:rPr b="0" lang="hi-IN" sz="2550" strike="noStrike" u="none">
                <a:solidFill>
                  <a:srgbClr val="0f172a"/>
                </a:solidFill>
                <a:effectLst/>
                <a:uFillTx/>
                <a:latin typeface="Sarabun Medium"/>
                <a:cs typeface="Sarabun Medium"/>
              </a:rPr>
              <a:t>ท่านไม่รู้หรือว่า เราทั้งหลายที่ได้รับบัพติศมาเข้าในพระเยซูคริสต์ ก็ได้รับบัพติศมานั้นเข้าในความตายของพระองค์ </a:t>
            </a:r>
            <a:br>
              <a:rPr sz="1800"/>
            </a:br>
            <a:br>
              <a:rPr sz="1800"/>
            </a:br>
            <a:r>
              <a:rPr b="0" lang="en-US" sz="2550" strike="noStrike" u="none">
                <a:solidFill>
                  <a:srgbClr val="0f172a"/>
                </a:solidFill>
                <a:effectLst/>
                <a:uFillTx/>
                <a:latin typeface="Sarabun Medium"/>
                <a:ea typeface="Sarabun Medium"/>
              </a:rPr>
              <a:t> </a:t>
            </a:r>
            <a:r>
              <a:rPr b="0" lang="en-US" sz="2550" strike="noStrike" u="none">
                <a:solidFill>
                  <a:srgbClr val="0f172a"/>
                </a:solidFill>
                <a:effectLst/>
                <a:uFillTx/>
                <a:latin typeface="Sarabun Medium"/>
                <a:ea typeface="Sarabun Medium"/>
              </a:rPr>
              <a:t>[4] </a:t>
            </a:r>
            <a:r>
              <a:rPr b="0" lang="hi-IN" sz="2550" strike="noStrike" u="none">
                <a:solidFill>
                  <a:srgbClr val="0f172a"/>
                </a:solidFill>
                <a:effectLst/>
                <a:uFillTx/>
                <a:latin typeface="Sarabun Medium"/>
                <a:cs typeface="Sarabun Medium"/>
              </a:rPr>
              <a:t>เหตุฉะนั้นเราจึงถูกฝังไว้กับพระองค์แล้วโดยการรับบัพติศมาเข้าส่วนในความตายนั้น เหมือนกับที่พระคริสต์ได้ทรงถูกชุบให้เป็นขึ้นมาจากความตาย โดยเดชพระรัศมีของพระบิดาอย่างไร เราก็จะได้ดำเนินตามชีวิตใหม่ด้วยอย่างนั้น </a:t>
            </a:r>
            <a:br>
              <a:rPr sz="1800"/>
            </a:br>
            <a:br>
              <a:rPr sz="1800"/>
            </a:br>
            <a:r>
              <a:rPr b="0" lang="en-US" sz="2550" strike="noStrike" u="none">
                <a:solidFill>
                  <a:srgbClr val="0f172a"/>
                </a:solidFill>
                <a:effectLst/>
                <a:uFillTx/>
                <a:latin typeface="Sarabun Medium"/>
                <a:ea typeface="Sarabun Medium"/>
              </a:rPr>
              <a:t> </a:t>
            </a:r>
            <a:r>
              <a:rPr b="0" lang="en-US" sz="2550" strike="noStrike" u="none">
                <a:solidFill>
                  <a:srgbClr val="0f172a"/>
                </a:solidFill>
                <a:effectLst/>
                <a:uFillTx/>
                <a:latin typeface="Sarabun Medium"/>
                <a:ea typeface="Sarabun Medium"/>
              </a:rPr>
              <a:t>[5] </a:t>
            </a:r>
            <a:r>
              <a:rPr b="0" lang="hi-IN" sz="2550" strike="noStrike" u="none">
                <a:solidFill>
                  <a:srgbClr val="0f172a"/>
                </a:solidFill>
                <a:effectLst/>
                <a:uFillTx/>
                <a:latin typeface="Sarabun Medium"/>
                <a:cs typeface="Sarabun Medium"/>
              </a:rPr>
              <a:t>เพราะว่าถ้าเราเข้าสนิทกับพระองค์แล้วในการตายอย่างพระองค์ เราก็จะเป็นขึ้นมาอย่างพระองค์ได้ทรงเป็นขึ้นมาจากความตายด้วย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7;p14"/>
          <p:cNvSpPr/>
          <p:nvPr/>
        </p:nvSpPr>
        <p:spPr>
          <a:xfrm>
            <a:off x="5524560" y="6077880"/>
            <a:ext cx="11426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1" lang="hi-IN" sz="2100" strike="noStrike" u="none">
                <a:solidFill>
                  <a:srgbClr val="0284c7"/>
                </a:solidFill>
                <a:effectLst/>
                <a:uFillTx/>
                <a:latin typeface="Prompt"/>
                <a:cs typeface="Prompt"/>
              </a:rPr>
              <a:t>โรม </a:t>
            </a:r>
            <a:r>
              <a:rPr b="1" lang="en-US" sz="2100" strike="noStrike" u="none">
                <a:solidFill>
                  <a:srgbClr val="0284c7"/>
                </a:solidFill>
                <a:effectLst/>
                <a:uFillTx/>
                <a:latin typeface="Prompt"/>
                <a:ea typeface="Prompt"/>
              </a:rPr>
              <a:t>6:3-5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8;p14"/>
          <p:cNvSpPr/>
          <p:nvPr/>
        </p:nvSpPr>
        <p:spPr>
          <a:xfrm>
            <a:off x="1371600" y="734400"/>
            <a:ext cx="466200" cy="20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0"/>
              </a:lnSpc>
              <a:tabLst>
                <a:tab algn="l" pos="0"/>
              </a:tabLst>
            </a:pPr>
            <a:r>
              <a:rPr b="0" lang="en-US" sz="10500" strike="noStrike" u="none">
                <a:solidFill>
                  <a:srgbClr val="e0f2fe"/>
                </a:solidFill>
                <a:effectLst/>
                <a:uFillTx/>
                <a:latin typeface="Prompt Medium"/>
                <a:ea typeface="Prompt Medium"/>
              </a:rPr>
              <a:t>"</a:t>
            </a:r>
            <a:endParaRPr b="0" lang="en-US" sz="10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9;p14"/>
          <p:cNvSpPr/>
          <p:nvPr/>
        </p:nvSpPr>
        <p:spPr>
          <a:xfrm>
            <a:off x="10353600" y="5697000"/>
            <a:ext cx="466200" cy="11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0"/>
              </a:lnSpc>
              <a:tabLst>
                <a:tab algn="l" pos="0"/>
              </a:tabLst>
            </a:pPr>
            <a:r>
              <a:rPr b="0" lang="en-US" sz="10500" strike="noStrike" u="none">
                <a:solidFill>
                  <a:srgbClr val="e0f2fe"/>
                </a:solidFill>
                <a:effectLst/>
                <a:uFillTx/>
                <a:latin typeface="Prompt Medium"/>
                <a:ea typeface="Prompt Medium"/>
              </a:rPr>
              <a:t>"</a:t>
            </a:r>
            <a:endParaRPr b="0" lang="en-US" sz="10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104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Google Shape;105;p15" descr="image.png"/>
          <p:cNvPicPr/>
          <p:nvPr/>
        </p:nvPicPr>
        <p:blipFill>
          <a:blip r:embed="rId2"/>
          <a:stretch/>
        </p:blipFill>
        <p:spPr>
          <a:xfrm>
            <a:off x="2924280" y="1888200"/>
            <a:ext cx="6343200" cy="308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Google Shape;106;p15"/>
          <p:cNvSpPr/>
          <p:nvPr/>
        </p:nvSpPr>
        <p:spPr>
          <a:xfrm>
            <a:off x="3375720" y="2468880"/>
            <a:ext cx="5440320" cy="191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40000"/>
              </a:lnSpc>
              <a:tabLst>
                <a:tab algn="l" pos="0"/>
              </a:tabLst>
            </a:pPr>
            <a:r>
              <a:rPr b="0" lang="hi-IN" sz="3600" strike="noStrike" u="none">
                <a:solidFill>
                  <a:srgbClr val="ffffff"/>
                </a:solidFill>
                <a:effectLst/>
                <a:uFillTx/>
                <a:latin typeface="Prompt SemiBold"/>
                <a:cs typeface="Prompt SemiBold"/>
              </a:rPr>
              <a:t>บัพติศมา ทำให้เรามั่นใจ</a:t>
            </a:r>
            <a:br>
              <a:rPr sz="18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Prompt SemiBold"/>
                <a:ea typeface="Prompt SemiBold"/>
              </a:rPr>
              <a:t> มีความเชื่อมากขึ้น</a:t>
            </a:r>
            <a:br>
              <a:rPr sz="1800"/>
            </a:br>
            <a:r>
              <a:rPr b="0" lang="en-US" sz="3600" strike="noStrike" u="none">
                <a:solidFill>
                  <a:srgbClr val="ffffff"/>
                </a:solidFill>
                <a:effectLst/>
                <a:uFillTx/>
                <a:latin typeface="Prompt SemiBold"/>
                <a:ea typeface="Prompt SemiBold"/>
              </a:rPr>
              <a:t> และพร้อมเดินไปกับพระเยซู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111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112;p16"/>
          <p:cNvSpPr/>
          <p:nvPr/>
        </p:nvSpPr>
        <p:spPr>
          <a:xfrm>
            <a:off x="762120" y="1540080"/>
            <a:ext cx="10667520" cy="902520"/>
          </a:xfrm>
          <a:prstGeom prst="roundRect">
            <a:avLst>
              <a:gd name="adj" fmla="val 12658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13;p16"/>
          <p:cNvSpPr/>
          <p:nvPr/>
        </p:nvSpPr>
        <p:spPr>
          <a:xfrm>
            <a:off x="1428840" y="1778400"/>
            <a:ext cx="97153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21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เชื่อฟังคำสั่งของพระเยซู</a:t>
            </a:r>
            <a:r>
              <a:rPr b="1" lang="en-US" sz="21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:</a:t>
            </a:r>
            <a:r>
              <a:rPr b="0" lang="en-US" sz="21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 </a:t>
            </a:r>
            <a:r>
              <a:rPr b="0" lang="hi-IN" sz="21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เป็นก้าวแรกแห่งการเชื่อฟัง และพร้อมที่จะเดินไปกับพระองค์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14;p16"/>
          <p:cNvSpPr/>
          <p:nvPr/>
        </p:nvSpPr>
        <p:spPr>
          <a:xfrm>
            <a:off x="762120" y="1540080"/>
            <a:ext cx="56880" cy="9025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15;p16"/>
          <p:cNvSpPr/>
          <p:nvPr/>
        </p:nvSpPr>
        <p:spPr>
          <a:xfrm>
            <a:off x="762120" y="2681280"/>
            <a:ext cx="10667520" cy="1329120"/>
          </a:xfrm>
          <a:prstGeom prst="roundRect">
            <a:avLst>
              <a:gd name="adj" fmla="val 8596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16;p16"/>
          <p:cNvSpPr/>
          <p:nvPr/>
        </p:nvSpPr>
        <p:spPr>
          <a:xfrm>
            <a:off x="1428840" y="2919240"/>
            <a:ext cx="9715320" cy="85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21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ยืนยันตัวตน</a:t>
            </a:r>
            <a:r>
              <a:rPr b="1" lang="en-US" sz="21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:</a:t>
            </a:r>
            <a:r>
              <a:rPr b="0" lang="en-US" sz="21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 </a:t>
            </a:r>
            <a:r>
              <a:rPr b="0" lang="hi-IN" sz="21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เป็นการประกาศและยืนยันว่าเราเป็นคริสเตียน เป็นลูกของพระเจ้าอย่างสมบูรณ์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17;p16"/>
          <p:cNvSpPr/>
          <p:nvPr/>
        </p:nvSpPr>
        <p:spPr>
          <a:xfrm>
            <a:off x="762120" y="2681280"/>
            <a:ext cx="56880" cy="1329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18;p16"/>
          <p:cNvSpPr/>
          <p:nvPr/>
        </p:nvSpPr>
        <p:spPr>
          <a:xfrm>
            <a:off x="762120" y="4249080"/>
            <a:ext cx="10667520" cy="902520"/>
          </a:xfrm>
          <a:prstGeom prst="roundRect">
            <a:avLst>
              <a:gd name="adj" fmla="val 12658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19;p16"/>
          <p:cNvSpPr/>
          <p:nvPr/>
        </p:nvSpPr>
        <p:spPr>
          <a:xfrm>
            <a:off x="1428840" y="4487040"/>
            <a:ext cx="97153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21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อุทิศตน</a:t>
            </a:r>
            <a:r>
              <a:rPr b="1" lang="en-US" sz="21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:</a:t>
            </a:r>
            <a:r>
              <a:rPr b="0" lang="en-US" sz="21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 </a:t>
            </a:r>
            <a:r>
              <a:rPr b="0" lang="hi-IN" sz="21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แสดงเจตนารมณ์อย่างชัดเจนว่าจะติดตามพระเยซูคริสต์เท่านั้น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20;p16"/>
          <p:cNvSpPr/>
          <p:nvPr/>
        </p:nvSpPr>
        <p:spPr>
          <a:xfrm>
            <a:off x="762120" y="4249080"/>
            <a:ext cx="56880" cy="9025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21;p16"/>
          <p:cNvSpPr/>
          <p:nvPr/>
        </p:nvSpPr>
        <p:spPr>
          <a:xfrm>
            <a:off x="762120" y="5390280"/>
            <a:ext cx="10667520" cy="902520"/>
          </a:xfrm>
          <a:prstGeom prst="roundRect">
            <a:avLst>
              <a:gd name="adj" fmla="val 12658"/>
            </a:avLst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22;p16"/>
          <p:cNvSpPr/>
          <p:nvPr/>
        </p:nvSpPr>
        <p:spPr>
          <a:xfrm>
            <a:off x="1428840" y="5628240"/>
            <a:ext cx="971532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21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เริ่มต้นใหม่</a:t>
            </a:r>
            <a:r>
              <a:rPr b="1" lang="en-US" sz="21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:</a:t>
            </a:r>
            <a:r>
              <a:rPr b="0" lang="en-US" sz="2100" strike="noStrike" u="none">
                <a:solidFill>
                  <a:srgbClr val="334155"/>
                </a:solidFill>
                <a:effectLst/>
                <a:uFillTx/>
                <a:latin typeface="Sarabun"/>
                <a:ea typeface="Sarabun"/>
              </a:rPr>
              <a:t> </a:t>
            </a:r>
            <a:r>
              <a:rPr b="0" lang="hi-IN" sz="2100" strike="noStrike" u="none">
                <a:solidFill>
                  <a:srgbClr val="334155"/>
                </a:solidFill>
                <a:effectLst/>
                <a:uFillTx/>
                <a:latin typeface="Sarabun"/>
                <a:cs typeface="Sarabun"/>
              </a:rPr>
              <a:t>เป็นการตัดสินใจละทิ้งความบาปในอดีต และเริ่มต้นชีวิตใหม่ในทางของพระองค์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23;p16"/>
          <p:cNvSpPr/>
          <p:nvPr/>
        </p:nvSpPr>
        <p:spPr>
          <a:xfrm>
            <a:off x="762120" y="5390280"/>
            <a:ext cx="56880" cy="9025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Google Shape;124;p16" descr="image.png"/>
          <p:cNvPicPr/>
          <p:nvPr/>
        </p:nvPicPr>
        <p:blipFill>
          <a:blip r:embed="rId2"/>
          <a:stretch/>
        </p:blipFill>
        <p:spPr>
          <a:xfrm>
            <a:off x="1009800" y="1829520"/>
            <a:ext cx="228240" cy="32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oogle Shape;125;p16" descr="image.png"/>
          <p:cNvPicPr/>
          <p:nvPr/>
        </p:nvPicPr>
        <p:blipFill>
          <a:blip r:embed="rId3"/>
          <a:stretch/>
        </p:blipFill>
        <p:spPr>
          <a:xfrm>
            <a:off x="1009800" y="3184200"/>
            <a:ext cx="228240" cy="32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126;p16" descr="image.png"/>
          <p:cNvPicPr/>
          <p:nvPr/>
        </p:nvPicPr>
        <p:blipFill>
          <a:blip r:embed="rId4"/>
          <a:stretch/>
        </p:blipFill>
        <p:spPr>
          <a:xfrm>
            <a:off x="1009800" y="4538520"/>
            <a:ext cx="228240" cy="32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27;p16" descr="image.png"/>
          <p:cNvPicPr/>
          <p:nvPr/>
        </p:nvPicPr>
        <p:blipFill>
          <a:blip r:embed="rId5"/>
          <a:stretch/>
        </p:blipFill>
        <p:spPr>
          <a:xfrm>
            <a:off x="1009800" y="5679720"/>
            <a:ext cx="2282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Google Shape;128;p16"/>
          <p:cNvSpPr/>
          <p:nvPr/>
        </p:nvSpPr>
        <p:spPr>
          <a:xfrm>
            <a:off x="762120" y="564840"/>
            <a:ext cx="11201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hi-IN" sz="3600" strike="noStrike" u="none">
                <a:solidFill>
                  <a:srgbClr val="0369a1"/>
                </a:solidFill>
                <a:effectLst/>
                <a:uFillTx/>
                <a:latin typeface="Prompt SemiBold"/>
                <a:cs typeface="Prompt SemiBold"/>
              </a:rPr>
              <a:t>เหตุผลที่เราควรรับบัพติศมา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133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Google Shape;134;p17" descr="image.png"/>
          <p:cNvPicPr/>
          <p:nvPr/>
        </p:nvPicPr>
        <p:blipFill>
          <a:blip r:embed="rId2"/>
          <a:stretch/>
        </p:blipFill>
        <p:spPr>
          <a:xfrm>
            <a:off x="1151640" y="2011680"/>
            <a:ext cx="3809520" cy="380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Google Shape;135;p17"/>
          <p:cNvSpPr/>
          <p:nvPr/>
        </p:nvSpPr>
        <p:spPr>
          <a:xfrm>
            <a:off x="5922720" y="2090880"/>
            <a:ext cx="5782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hi-IN" sz="3600" strike="noStrike" u="none">
                <a:solidFill>
                  <a:srgbClr val="0369a1"/>
                </a:solidFill>
                <a:effectLst/>
                <a:uFillTx/>
                <a:latin typeface="Prompt SemiBold"/>
                <a:cs typeface="Prompt SemiBold"/>
              </a:rPr>
              <a:t>คำตอบคือ</a:t>
            </a:r>
            <a:r>
              <a:rPr b="0" lang="en-US" sz="3600" strike="noStrike" u="none">
                <a:solidFill>
                  <a:srgbClr val="0369a1"/>
                </a:solidFill>
                <a:effectLst/>
                <a:uFillTx/>
                <a:latin typeface="Prompt SemiBold"/>
                <a:ea typeface="Prompt SemiBold"/>
              </a:rPr>
              <a:t>...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Google Shape;136;p17" descr="image.png"/>
          <p:cNvPicPr/>
          <p:nvPr/>
        </p:nvPicPr>
        <p:blipFill>
          <a:blip r:embed="rId3"/>
          <a:stretch/>
        </p:blipFill>
        <p:spPr>
          <a:xfrm>
            <a:off x="5922720" y="2875680"/>
            <a:ext cx="5506920" cy="272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Google Shape;137;p17" descr="image.png"/>
          <p:cNvPicPr/>
          <p:nvPr/>
        </p:nvPicPr>
        <p:blipFill>
          <a:blip r:embed="rId4"/>
          <a:stretch/>
        </p:blipFill>
        <p:spPr>
          <a:xfrm>
            <a:off x="1227960" y="2087640"/>
            <a:ext cx="3657240" cy="3657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Google Shape;138;p17"/>
          <p:cNvSpPr/>
          <p:nvPr/>
        </p:nvSpPr>
        <p:spPr>
          <a:xfrm>
            <a:off x="762120" y="571680"/>
            <a:ext cx="11201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hi-IN" sz="3600" strike="noStrike" u="none">
                <a:solidFill>
                  <a:srgbClr val="0369a1"/>
                </a:solidFill>
                <a:effectLst/>
                <a:uFillTx/>
                <a:latin typeface="Prompt SemiBold"/>
                <a:cs typeface="Prompt SemiBold"/>
              </a:rPr>
              <a:t>ใครควรรับบัพติศมา</a:t>
            </a:r>
            <a:r>
              <a:rPr b="0" lang="en-US" sz="3600" strike="noStrike" u="none">
                <a:solidFill>
                  <a:srgbClr val="0369a1"/>
                </a:solidFill>
                <a:effectLst/>
                <a:uFillTx/>
                <a:latin typeface="Prompt SemiBold"/>
                <a:ea typeface="Prompt SemiBold"/>
              </a:rPr>
              <a:t>?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143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Google Shape;144;p18"/>
          <p:cNvSpPr/>
          <p:nvPr/>
        </p:nvSpPr>
        <p:spPr>
          <a:xfrm>
            <a:off x="1562040" y="1324800"/>
            <a:ext cx="9067320" cy="42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hi-IN" sz="1200" strike="noStrike" u="none">
                <a:solidFill>
                  <a:srgbClr val="0284c7"/>
                </a:solidFill>
                <a:effectLst/>
                <a:uFillTx/>
                <a:latin typeface="Sarabun"/>
                <a:cs typeface="Sarabun"/>
              </a:rPr>
              <a:t>มัทธิว </a:t>
            </a:r>
            <a:r>
              <a:rPr b="1" lang="en-US" sz="1200" strike="noStrike" u="none">
                <a:solidFill>
                  <a:srgbClr val="0284c7"/>
                </a:solidFill>
                <a:effectLst/>
                <a:uFillTx/>
                <a:latin typeface="Sarabun"/>
                <a:ea typeface="Sarabun"/>
              </a:rPr>
              <a:t>28:19-20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45;p18"/>
          <p:cNvSpPr/>
          <p:nvPr/>
        </p:nvSpPr>
        <p:spPr>
          <a:xfrm rot="21596400">
            <a:off x="2135520" y="1320480"/>
            <a:ext cx="7924320" cy="39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en-US" sz="2550" strike="noStrike" u="none">
                <a:solidFill>
                  <a:srgbClr val="0f172a"/>
                </a:solidFill>
                <a:effectLst/>
                <a:uFillTx/>
                <a:latin typeface="Sarabun Medium"/>
                <a:ea typeface="Sarabun Medium"/>
              </a:rPr>
              <a:t>[19] </a:t>
            </a:r>
            <a:r>
              <a:rPr b="0" lang="hi-IN" sz="2550" strike="noStrike" u="none">
                <a:solidFill>
                  <a:srgbClr val="0f172a"/>
                </a:solidFill>
                <a:effectLst/>
                <a:uFillTx/>
                <a:latin typeface="Sarabun Medium"/>
                <a:cs typeface="Sarabun Medium"/>
              </a:rPr>
              <a:t>เหตุฉะนั้น ท่านทั้งหลายจงออกไปสั่งสอนชนทุกชาติ ให้รับบัพติศมาในพระนามแห่งพระบิดา พระบุตร และพระวิญญาณบริสุทธิ์ </a:t>
            </a:r>
            <a:br>
              <a:rPr sz="1800"/>
            </a:br>
            <a:br>
              <a:rPr sz="1800"/>
            </a:br>
            <a:r>
              <a:rPr b="0" lang="en-US" sz="2550" strike="noStrike" u="none">
                <a:solidFill>
                  <a:srgbClr val="0f172a"/>
                </a:solidFill>
                <a:effectLst/>
                <a:uFillTx/>
                <a:latin typeface="Sarabun Medium"/>
                <a:ea typeface="Sarabun Medium"/>
              </a:rPr>
              <a:t> </a:t>
            </a:r>
            <a:r>
              <a:rPr b="0" lang="en-US" sz="2550" strike="noStrike" u="none">
                <a:solidFill>
                  <a:srgbClr val="0f172a"/>
                </a:solidFill>
                <a:effectLst/>
                <a:uFillTx/>
                <a:latin typeface="Sarabun Medium"/>
                <a:ea typeface="Sarabun Medium"/>
              </a:rPr>
              <a:t>[20] </a:t>
            </a:r>
            <a:r>
              <a:rPr b="0" lang="hi-IN" sz="2550" strike="noStrike" u="none">
                <a:solidFill>
                  <a:srgbClr val="0f172a"/>
                </a:solidFill>
                <a:effectLst/>
                <a:uFillTx/>
                <a:latin typeface="Sarabun Medium"/>
                <a:cs typeface="Sarabun Medium"/>
              </a:rPr>
              <a:t>สอนเขาให้ถือรักษาสิ่งสารพัดซึ่งเราได้สั่งพวกท่านไว้ ดูเถิด เราจะอยู่กับท่านทั้งหลายเสมอไป จนกว่าจะสิ้นโลก เอเมน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46;p18"/>
          <p:cNvSpPr/>
          <p:nvPr/>
        </p:nvSpPr>
        <p:spPr>
          <a:xfrm>
            <a:off x="5181480" y="5106240"/>
            <a:ext cx="182844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1" lang="hi-IN" sz="2100" strike="noStrike" u="none">
                <a:solidFill>
                  <a:srgbClr val="0284c7"/>
                </a:solidFill>
                <a:effectLst/>
                <a:uFillTx/>
                <a:latin typeface="Prompt"/>
                <a:cs typeface="Prompt"/>
              </a:rPr>
              <a:t>มัทธิว </a:t>
            </a:r>
            <a:r>
              <a:rPr b="1" lang="en-US" sz="2100" strike="noStrike" u="none">
                <a:solidFill>
                  <a:srgbClr val="0284c7"/>
                </a:solidFill>
                <a:effectLst/>
                <a:uFillTx/>
                <a:latin typeface="Prompt"/>
                <a:ea typeface="Prompt"/>
              </a:rPr>
              <a:t>28:19-20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47;p18"/>
          <p:cNvSpPr/>
          <p:nvPr/>
        </p:nvSpPr>
        <p:spPr>
          <a:xfrm>
            <a:off x="1371600" y="1706040"/>
            <a:ext cx="466200" cy="20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0"/>
              </a:lnSpc>
              <a:tabLst>
                <a:tab algn="l" pos="0"/>
              </a:tabLst>
            </a:pPr>
            <a:r>
              <a:rPr b="0" lang="en-US" sz="10500" strike="noStrike" u="none">
                <a:solidFill>
                  <a:srgbClr val="e0f2fe"/>
                </a:solidFill>
                <a:effectLst/>
                <a:uFillTx/>
                <a:latin typeface="Prompt Medium"/>
                <a:ea typeface="Prompt Medium"/>
              </a:rPr>
              <a:t>"</a:t>
            </a:r>
            <a:endParaRPr b="0" lang="en-US" sz="10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48;p18"/>
          <p:cNvSpPr/>
          <p:nvPr/>
        </p:nvSpPr>
        <p:spPr>
          <a:xfrm>
            <a:off x="10353600" y="4725360"/>
            <a:ext cx="466200" cy="20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0"/>
              </a:lnSpc>
              <a:tabLst>
                <a:tab algn="l" pos="0"/>
              </a:tabLst>
            </a:pPr>
            <a:r>
              <a:rPr b="0" lang="en-US" sz="10500" strike="noStrike" u="none">
                <a:solidFill>
                  <a:srgbClr val="e0f2fe"/>
                </a:solidFill>
                <a:effectLst/>
                <a:uFillTx/>
                <a:latin typeface="Prompt Medium"/>
                <a:ea typeface="Prompt Medium"/>
              </a:rPr>
              <a:t>"</a:t>
            </a:r>
            <a:endParaRPr b="0" lang="en-US" sz="10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54;p19"/>
          <p:cNvSpPr/>
          <p:nvPr/>
        </p:nvSpPr>
        <p:spPr>
          <a:xfrm>
            <a:off x="762120" y="2744280"/>
            <a:ext cx="800064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55;p19"/>
          <p:cNvSpPr/>
          <p:nvPr/>
        </p:nvSpPr>
        <p:spPr>
          <a:xfrm>
            <a:off x="762120" y="3529080"/>
            <a:ext cx="800064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69;p19"/>
          <p:cNvSpPr/>
          <p:nvPr/>
        </p:nvSpPr>
        <p:spPr>
          <a:xfrm>
            <a:off x="762120" y="571680"/>
            <a:ext cx="112010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hi-IN" sz="3600" strike="noStrike" u="none">
                <a:solidFill>
                  <a:srgbClr val="0369a1"/>
                </a:solidFill>
                <a:effectLst/>
                <a:uFillTx/>
                <a:latin typeface="Prompt SemiBold"/>
                <a:cs typeface="Prompt SemiBold"/>
              </a:rPr>
              <a:t>หลักปฏิบัติของผู้รับบัพติศมา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685800" y="1828800"/>
            <a:ext cx="10515600" cy="3886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[28] 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เพราะ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ว่า พระ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วิญญาณ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บริสุทธิ์และ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ข้าพเจ้าทั้ง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หลายก็เห็น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ชอบที่จะไม่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วางภาระบน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ท่านทั้งหลาย 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เว้นไว้แต่สิ่ง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เหล่านั้นที่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จำเป็น 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[29] 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คือว่า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ให้ท่านทั้ง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หลายงดการ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รับประทาน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สิ่งของซึ่งเขา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ได้บูชาแก่รูป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เคารพ และ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การรับ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ประทาน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เลือด และ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การรับ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ประทานเนื้อ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สัตว์ซึ่งถูกรัด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คอตาย และ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การล่วง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ประเวณี ถ้า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ท่านทั้งหลาย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งดการเหล่า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นี้ก็จะ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เป็นการดี ขอ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ให้อยู่เป็นสุข</a:t>
            </a:r>
            <a:r>
              <a:rPr b="0" lang="hi-IN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เถิด</a:t>
            </a: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b="0" lang="en-US" sz="2600" strike="noStrike" u="none">
                <a:solidFill>
                  <a:srgbClr val="729fcf"/>
                </a:solidFill>
                <a:effectLst/>
                <a:uFillTx/>
                <a:latin typeface="Arial"/>
              </a:rPr>
              <a:t>(</a:t>
            </a:r>
            <a:r>
              <a:rPr b="0" lang="hi-IN" sz="2600" strike="noStrike" u="none">
                <a:solidFill>
                  <a:srgbClr val="729fcf"/>
                </a:solidFill>
                <a:effectLst/>
                <a:uFillTx/>
                <a:latin typeface="Arial"/>
              </a:rPr>
              <a:t>กิจการ </a:t>
            </a:r>
            <a:r>
              <a:rPr b="0" lang="en-US" sz="2600" strike="noStrike" u="none">
                <a:solidFill>
                  <a:srgbClr val="729fcf"/>
                </a:solidFill>
                <a:effectLst/>
                <a:uFillTx/>
                <a:latin typeface="Arial"/>
              </a:rPr>
              <a:t>15:28-29)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LibreOffice/25.2.5.2$Linux_X86_64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2026-06-26T23:09:22Z</dcterms:modified>
  <cp:revision>1</cp:revision>
  <dc:subject/>
  <dc:title/>
</cp:coreProperties>
</file>