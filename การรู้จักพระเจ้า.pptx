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jpeg" ContentType="image/jpeg"/>
  <Override PartName="/ppt/media/image8.png" ContentType="image/png"/>
  <Override PartName="/ppt/media/image9.png" ContentType="image/png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76961EB-5F71-4385-9164-B2E7141FB76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A92C74-7CEC-4FB6-AEFC-16EC5192181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25F29B-00C2-4F59-9D4A-28EEEA5E984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27F58F-604E-4CD0-B408-BBCAEEA1263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788FE7-467F-4A82-9F1B-739F0A681D8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A74D69-76FC-4D74-B7B7-0ECB68A7888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BE0B02-C421-467B-8756-FD58E3F5021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B44E6-9F95-4729-BED3-F7FEED8E726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4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2244240" y="1714680"/>
            <a:ext cx="4655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540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hi-IN" sz="5400" strike="noStrike" u="none">
                <a:solidFill>
                  <a:srgbClr val="ffffff"/>
                </a:solidFill>
                <a:effectLst/>
                <a:uFillTx/>
                <a:latin typeface="Georgia"/>
                <a:cs typeface="Georgia"/>
              </a:rPr>
              <a:t>การรู้จักพระเจ้า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095720" y="2743200"/>
            <a:ext cx="952200" cy="3780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Text 2"/>
          <p:cNvSpPr/>
          <p:nvPr/>
        </p:nvSpPr>
        <p:spPr>
          <a:xfrm>
            <a:off x="2339640" y="3124080"/>
            <a:ext cx="44643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0" lang="hi-IN" sz="18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การเดินทางสู่ความสัมพันธ์ที่ลึกซึ้งกับพระองค์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380880" y="266760"/>
            <a:ext cx="4284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spcAft>
                <a:spcPts val="751"/>
              </a:spcAft>
              <a:tabLst>
                <a:tab algn="l" pos="0"/>
              </a:tabLst>
            </a:pPr>
            <a:r>
              <a:rPr b="1" lang="hi-IN" sz="3600" strike="noStrike" u="none">
                <a:solidFill>
                  <a:srgbClr val="1a4d7a"/>
                </a:solidFill>
                <a:effectLst/>
                <a:uFillTx/>
                <a:latin typeface="Georgia"/>
                <a:cs typeface="Georgia"/>
              </a:rPr>
              <a:t>พระเจ้าทรงเชิญชวน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/tmp/rasterized-gradient-e2b44c03.png"/>
          <p:cNvPicPr/>
          <p:nvPr/>
        </p:nvPicPr>
        <p:blipFill>
          <a:blip r:embed="rId1"/>
          <a:stretch/>
        </p:blipFill>
        <p:spPr>
          <a:xfrm>
            <a:off x="380880" y="1137240"/>
            <a:ext cx="3505320" cy="99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2"/>
          <p:cNvSpPr/>
          <p:nvPr/>
        </p:nvSpPr>
        <p:spPr>
          <a:xfrm>
            <a:off x="571680" y="1327680"/>
            <a:ext cx="8160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hi-IN" sz="135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พระเจ้าต้องการให้เราได้เห็นพระองค์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571680" y="1708560"/>
            <a:ext cx="8160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hi-IN" sz="12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เพราะพระองค์ทรงรู้ว่า คนที่ได้เห็นพระองค์จะไม่เหมือนเดิม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380880" y="4737240"/>
            <a:ext cx="16948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hi-IN" sz="10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อพยพ </a:t>
            </a:r>
            <a:r>
              <a:rPr b="0" lang="en-US" sz="10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32:17, 33:18 | </a:t>
            </a:r>
            <a:r>
              <a:rPr b="0" lang="hi-IN" sz="10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ฮีบรู </a:t>
            </a:r>
            <a:r>
              <a:rPr b="0" lang="en-US" sz="10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8:11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2"/>
          <a:stretch/>
        </p:blipFill>
        <p:spPr>
          <a:xfrm>
            <a:off x="5016600" y="315000"/>
            <a:ext cx="3429000" cy="438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Text 18"/>
          <p:cNvSpPr/>
          <p:nvPr/>
        </p:nvSpPr>
        <p:spPr>
          <a:xfrm>
            <a:off x="509760" y="2946600"/>
            <a:ext cx="3291840" cy="15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i="1" lang="hi-IN" sz="240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โมเสสจึงกราบทูลว่า “ขอทรงสำแดงพระสิริของพระองค์แก่ข้าพระองค์เถิด”           </a:t>
            </a:r>
            <a:r>
              <a:rPr b="0" i="1" lang="en-US" sz="2400" strike="noStrike" u="none">
                <a:solidFill>
                  <a:srgbClr val="1a4d7a"/>
                </a:solidFill>
                <a:effectLst/>
                <a:uFillTx/>
                <a:latin typeface="Arial"/>
                <a:ea typeface="Arial"/>
              </a:rPr>
              <a:t>(</a:t>
            </a:r>
            <a:r>
              <a:rPr b="0" i="1" lang="hi-IN" sz="240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อพยพ </a:t>
            </a:r>
            <a:r>
              <a:rPr b="0" i="1" lang="en-US" sz="2400" strike="noStrike" u="none">
                <a:solidFill>
                  <a:srgbClr val="1a4d7a"/>
                </a:solidFill>
                <a:effectLst/>
                <a:uFillTx/>
                <a:latin typeface="Arial"/>
                <a:ea typeface="Arial"/>
              </a:rPr>
              <a:t>33:18)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22"/>
          <p:cNvSpPr/>
          <p:nvPr/>
        </p:nvSpPr>
        <p:spPr>
          <a:xfrm>
            <a:off x="296640" y="541800"/>
            <a:ext cx="8381520" cy="1095480"/>
          </a:xfrm>
          <a:prstGeom prst="roundRect">
            <a:avLst>
              <a:gd name="adj" fmla="val 7143"/>
            </a:avLst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288360" y="541800"/>
            <a:ext cx="0" cy="1099440"/>
          </a:xfrm>
          <a:prstGeom prst="line">
            <a:avLst/>
          </a:prstGeom>
          <a:ln w="38100">
            <a:solidFill>
              <a:srgbClr val="d4af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7"/>
          <p:cNvSpPr/>
          <p:nvPr/>
        </p:nvSpPr>
        <p:spPr>
          <a:xfrm>
            <a:off x="487440" y="694440"/>
            <a:ext cx="8199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i="1" lang="hi-IN" sz="21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และพวกเขาจะไม่สอนเพื่อนบ้านและพี่น้องของตนแต่ละคนว่า ‘จงรู้จักองค์พระผู้เป็นเจ้า’เพราะเขาทุกคนจะรู้จักเราและพวกเขาจะไม่สอนเพื่อนบ้านและพี่น้องของตนแต่ละคนว่า ‘จงรู้จักองค์พระผู้เป็นเจ้า’เพราะเขาทุกคนจะรู้จักเรา </a:t>
            </a:r>
            <a:r>
              <a:rPr b="0" i="1" lang="en-US" sz="21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(</a:t>
            </a:r>
            <a:r>
              <a:rPr b="0" i="1" lang="hi-IN" sz="21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ฮีบรู </a:t>
            </a:r>
            <a:r>
              <a:rPr b="0" i="1" lang="en-US" sz="21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8:11)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2863800" y="2057400"/>
            <a:ext cx="3504960" cy="2628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380880" y="266760"/>
            <a:ext cx="5129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spcAft>
                <a:spcPts val="75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4d7a"/>
                </a:solidFill>
                <a:effectLst/>
                <a:uFillTx/>
                <a:latin typeface="Georgia"/>
                <a:ea typeface="Georgia"/>
              </a:rPr>
              <a:t>① พระเจ้าทรงพระชนม์อยู่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380880" y="1419120"/>
            <a:ext cx="4429800" cy="799920"/>
          </a:xfrm>
          <a:prstGeom prst="roundRect">
            <a:avLst>
              <a:gd name="adj" fmla="val 9524"/>
            </a:avLst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 2"/>
          <p:cNvSpPr/>
          <p:nvPr/>
        </p:nvSpPr>
        <p:spPr>
          <a:xfrm>
            <a:off x="571680" y="1571760"/>
            <a:ext cx="4129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hi-IN" sz="135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ฟ้าสวรรค์ประกาศพระสิริของพระเจ้า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571680" y="1876320"/>
            <a:ext cx="4129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hi-IN" sz="105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สดุดี 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19:1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380880" y="2371680"/>
            <a:ext cx="4429800" cy="799920"/>
          </a:xfrm>
          <a:prstGeom prst="roundRect">
            <a:avLst>
              <a:gd name="adj" fmla="val 9524"/>
            </a:avLst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Text 5"/>
          <p:cNvSpPr/>
          <p:nvPr/>
        </p:nvSpPr>
        <p:spPr>
          <a:xfrm>
            <a:off x="571680" y="2523960"/>
            <a:ext cx="4129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hi-IN" sz="135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ฟ้าสวรรค์ประกาศความชอบธรรมของพระองค์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571680" y="2828880"/>
            <a:ext cx="4129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hi-IN" sz="105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สดุดี 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97:6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380880" y="3324240"/>
            <a:ext cx="4429800" cy="799920"/>
          </a:xfrm>
          <a:prstGeom prst="roundRect">
            <a:avLst>
              <a:gd name="adj" fmla="val 9524"/>
            </a:avLst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Text 8"/>
          <p:cNvSpPr/>
          <p:nvPr/>
        </p:nvSpPr>
        <p:spPr>
          <a:xfrm>
            <a:off x="571680" y="3476520"/>
            <a:ext cx="4129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hi-IN" sz="135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คนโง่ว่าในใจว่า </a:t>
            </a:r>
            <a:r>
              <a:rPr b="1" lang="en-US" sz="1350" strike="noStrike" u="none">
                <a:solidFill>
                  <a:srgbClr val="1a4d7a"/>
                </a:solidFill>
                <a:effectLst/>
                <a:uFillTx/>
                <a:latin typeface="Arial"/>
                <a:ea typeface="Arial"/>
              </a:rPr>
              <a:t>"</a:t>
            </a:r>
            <a:r>
              <a:rPr b="1" lang="hi-IN" sz="135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ไม่มีพระเจ้า</a:t>
            </a:r>
            <a:r>
              <a:rPr b="1" lang="en-US" sz="1350" strike="noStrike" u="none">
                <a:solidFill>
                  <a:srgbClr val="1a4d7a"/>
                </a:solidFill>
                <a:effectLst/>
                <a:uFillTx/>
                <a:latin typeface="Arial"/>
                <a:ea typeface="Arial"/>
              </a:rPr>
              <a:t>"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571680" y="3781440"/>
            <a:ext cx="4129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hi-IN" sz="105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สดุดี 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14:1, 53:1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0" descr="/tmp/rasterized-gradient-3ea157af.png"/>
          <p:cNvPicPr/>
          <p:nvPr/>
        </p:nvPicPr>
        <p:blipFill>
          <a:blip r:embed="rId1"/>
          <a:stretch/>
        </p:blipFill>
        <p:spPr>
          <a:xfrm>
            <a:off x="5115960" y="1685880"/>
            <a:ext cx="3646800" cy="21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10"/>
          <p:cNvSpPr/>
          <p:nvPr/>
        </p:nvSpPr>
        <p:spPr>
          <a:xfrm>
            <a:off x="5954760" y="1971720"/>
            <a:ext cx="19692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3149"/>
              </a:lnSpc>
              <a:tabLst>
                <a:tab algn="l" pos="0"/>
              </a:tabLst>
            </a:pPr>
            <a:r>
              <a:rPr b="0" lang="hi-IN" sz="225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การทรงอยู่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149"/>
              </a:lnSpc>
              <a:tabLst>
                <a:tab algn="l" pos="0"/>
              </a:tabLst>
            </a:pPr>
            <a:r>
              <a:rPr b="0" lang="hi-IN" sz="225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ของพระเจ้า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149"/>
              </a:lnSpc>
              <a:tabLst>
                <a:tab algn="l" pos="0"/>
              </a:tabLst>
            </a:pPr>
            <a:r>
              <a:rPr b="0" lang="hi-IN" sz="225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ประจักษ์ชัด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149"/>
              </a:lnSpc>
              <a:tabLst>
                <a:tab algn="l" pos="0"/>
              </a:tabLst>
            </a:pPr>
            <a:r>
              <a:rPr b="0" lang="hi-IN" sz="225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ในการทรงสร้าง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380880" y="4737240"/>
            <a:ext cx="15069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hi-IN" sz="10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สดุดี </a:t>
            </a:r>
            <a:r>
              <a:rPr b="0" lang="en-US" sz="10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19:1, 97:6, 14:1, 53:1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4c7dc"/>
            </a:gs>
            <a:gs pos="100000">
              <a:srgbClr val="ffffff"/>
            </a:gs>
          </a:gsLst>
          <a:lin ang="36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 txBox="1"/>
          <p:nvPr/>
        </p:nvSpPr>
        <p:spPr>
          <a:xfrm>
            <a:off x="495000" y="482760"/>
            <a:ext cx="7506000" cy="160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hi-IN" sz="3200" strike="noStrike" u="none">
                <a:solidFill>
                  <a:srgbClr val="780373"/>
                </a:solidFill>
                <a:effectLst/>
                <a:uFillTx/>
                <a:latin typeface="Arial"/>
              </a:rPr>
              <a:t>ท้องฟ้าประกาศพระสิริของพระเจ้าและพื้นฟ้าสำแดงผลงานแห่งพระหัตถ์ของพระองค์ </a:t>
            </a:r>
            <a:r>
              <a:rPr b="0" lang="en-US" sz="3200" strike="noStrike" u="none">
                <a:solidFill>
                  <a:srgbClr val="780373"/>
                </a:solidFill>
                <a:effectLst/>
                <a:uFillTx/>
                <a:latin typeface="Arial"/>
              </a:rPr>
              <a:t>(</a:t>
            </a:r>
            <a:r>
              <a:rPr b="0" lang="hi-IN" sz="3200" strike="noStrike" u="none">
                <a:solidFill>
                  <a:srgbClr val="780373"/>
                </a:solidFill>
                <a:effectLst/>
                <a:uFillTx/>
                <a:latin typeface="Arial"/>
              </a:rPr>
              <a:t>สดุดี </a:t>
            </a:r>
            <a:r>
              <a:rPr b="0" lang="en-US" sz="3200" strike="noStrike" u="none">
                <a:solidFill>
                  <a:srgbClr val="780373"/>
                </a:solidFill>
                <a:effectLst/>
                <a:uFillTx/>
                <a:latin typeface="Arial"/>
              </a:rPr>
              <a:t>19:1)</a:t>
            </a:r>
            <a:endParaRPr b="0" lang="en-US" sz="3200" strike="noStrike" u="none">
              <a:solidFill>
                <a:srgbClr val="780373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85800" y="2514600"/>
            <a:ext cx="8001000" cy="221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hi-IN" sz="32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ฟ้าสวรรค์ป่าวร้องความชอบธรรมของพระองค์</a:t>
            </a:r>
            <a:endParaRPr b="0" lang="en-US" sz="3200" strike="noStrike" u="none">
              <a:solidFill>
                <a:srgbClr val="c9211e"/>
              </a:solidFill>
              <a:effectLst/>
              <a:uFillTx/>
              <a:latin typeface="Arial"/>
            </a:endParaRPr>
          </a:p>
          <a:p>
            <a:r>
              <a:rPr b="0" lang="hi-IN" sz="32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และชนชาติทั้งสิ้นเห็นพระสิริของพระองค์ </a:t>
            </a:r>
            <a:r>
              <a:rPr b="0" lang="en-US" sz="32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(</a:t>
            </a:r>
            <a:r>
              <a:rPr b="0" lang="hi-IN" sz="32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สดุดี </a:t>
            </a:r>
            <a:r>
              <a:rPr b="0" lang="en-US" sz="32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97:6)</a:t>
            </a:r>
            <a:endParaRPr b="0" lang="en-US" sz="3200" strike="noStrike" u="non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4c7dc"/>
            </a:gs>
            <a:gs pos="100000">
              <a:srgbClr val="ffffff"/>
            </a:gs>
          </a:gsLst>
          <a:lin ang="36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 txBox="1"/>
          <p:nvPr/>
        </p:nvSpPr>
        <p:spPr>
          <a:xfrm>
            <a:off x="810000" y="732600"/>
            <a:ext cx="4676400" cy="268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hi-IN" sz="26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คนโง่รำพึงในใจตนว่า</a:t>
            </a:r>
            <a:endParaRPr b="0" lang="en-US" sz="2600" strike="noStrike" u="none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  <a:p>
            <a:r>
              <a:rPr b="0" lang="en-US" sz="26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“ไม่มีพระเจ้า”</a:t>
            </a:r>
            <a:endParaRPr b="0" lang="en-US" sz="2600" strike="noStrike" u="none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  <a:p>
            <a:r>
              <a:rPr b="0" lang="hi-IN" sz="26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เขาทั้งหลายก็เลวทราม ทำกิจการน่าเกลียดน่าชัง</a:t>
            </a:r>
            <a:endParaRPr b="0" lang="en-US" sz="2600" strike="noStrike" u="none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  <a:p>
            <a:r>
              <a:rPr b="0" lang="hi-IN" sz="26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ไม่มีผู้ใดทำดี</a:t>
            </a:r>
            <a:endParaRPr b="0" lang="en-US" sz="2600" strike="noStrike" u="none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  <a:p>
            <a:r>
              <a:rPr b="0" lang="en-US" sz="26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(</a:t>
            </a:r>
            <a:r>
              <a:rPr b="0" lang="hi-IN" sz="26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สดุดี </a:t>
            </a:r>
            <a:r>
              <a:rPr b="0" lang="en-US" sz="26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14:1)</a:t>
            </a:r>
            <a:endParaRPr b="0" lang="en-US" sz="2600" strike="noStrike" u="none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3526560" y="2414880"/>
            <a:ext cx="5075640" cy="242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hi-IN" sz="2400" strike="noStrike" u="none">
                <a:solidFill>
                  <a:srgbClr val="000000"/>
                </a:solidFill>
                <a:effectLst/>
                <a:highlight>
                  <a:srgbClr val="d4ea6b"/>
                </a:highlight>
                <a:uFillTx/>
                <a:latin typeface="Arial"/>
              </a:rPr>
              <a:t>คนโง่รำพึงในใจตนว่า “ไม่มีพระเจ้า”</a:t>
            </a:r>
            <a:endParaRPr b="0" lang="en-US" sz="2400" strike="noStrike" u="none">
              <a:solidFill>
                <a:srgbClr val="000000"/>
              </a:solidFill>
              <a:effectLst/>
              <a:highlight>
                <a:srgbClr val="d4ea6b"/>
              </a:highlight>
              <a:uFillTx/>
              <a:latin typeface="Arial"/>
            </a:endParaRPr>
          </a:p>
          <a:p>
            <a:pPr algn="r"/>
            <a:r>
              <a:rPr b="0" lang="hi-IN" sz="2400" strike="noStrike" u="none">
                <a:solidFill>
                  <a:srgbClr val="000000"/>
                </a:solidFill>
                <a:effectLst/>
                <a:highlight>
                  <a:srgbClr val="d4ea6b"/>
                </a:highlight>
                <a:uFillTx/>
                <a:latin typeface="Arial"/>
              </a:rPr>
              <a:t>เขาทั้งหลายก็เลวทรามและทำความอยุติธรรมที่น่าเกลียดน่าชัง</a:t>
            </a:r>
            <a:endParaRPr b="0" lang="en-US" sz="2400" strike="noStrike" u="none">
              <a:solidFill>
                <a:srgbClr val="000000"/>
              </a:solidFill>
              <a:effectLst/>
              <a:highlight>
                <a:srgbClr val="d4ea6b"/>
              </a:highlight>
              <a:uFillTx/>
              <a:latin typeface="Arial"/>
            </a:endParaRPr>
          </a:p>
          <a:p>
            <a:pPr algn="r"/>
            <a:r>
              <a:rPr b="0" lang="hi-IN" sz="2400" strike="noStrike" u="none">
                <a:solidFill>
                  <a:srgbClr val="000000"/>
                </a:solidFill>
                <a:effectLst/>
                <a:highlight>
                  <a:srgbClr val="d4ea6b"/>
                </a:highlight>
                <a:uFillTx/>
                <a:latin typeface="Arial"/>
              </a:rPr>
              <a:t>ไม่มีผู้ใดทำดี</a:t>
            </a:r>
            <a:endParaRPr b="0" lang="en-US" sz="2400" strike="noStrike" u="none">
              <a:solidFill>
                <a:srgbClr val="000000"/>
              </a:solidFill>
              <a:effectLst/>
              <a:highlight>
                <a:srgbClr val="d4ea6b"/>
              </a:highlight>
              <a:uFillTx/>
              <a:latin typeface="Arial"/>
            </a:endParaRPr>
          </a:p>
          <a:p>
            <a:pPr algn="r"/>
            <a:r>
              <a:rPr b="0" lang="en-US" sz="2400" strike="noStrike" u="none">
                <a:solidFill>
                  <a:srgbClr val="000000"/>
                </a:solidFill>
                <a:effectLst/>
                <a:highlight>
                  <a:srgbClr val="d4ea6b"/>
                </a:highlight>
                <a:uFillTx/>
                <a:latin typeface="Arial"/>
              </a:rPr>
              <a:t>(</a:t>
            </a:r>
            <a:r>
              <a:rPr b="0" lang="hi-IN" sz="2400" strike="noStrike" u="none">
                <a:solidFill>
                  <a:srgbClr val="000000"/>
                </a:solidFill>
                <a:effectLst/>
                <a:highlight>
                  <a:srgbClr val="d4ea6b"/>
                </a:highlight>
                <a:uFillTx/>
                <a:latin typeface="Arial"/>
              </a:rPr>
              <a:t>สดุดี </a:t>
            </a:r>
            <a:r>
              <a:rPr b="0" lang="en-US" sz="2400" strike="noStrike" u="none">
                <a:solidFill>
                  <a:srgbClr val="000000"/>
                </a:solidFill>
                <a:effectLst/>
                <a:highlight>
                  <a:srgbClr val="d4ea6b"/>
                </a:highlight>
                <a:uFillTx/>
                <a:latin typeface="Arial"/>
              </a:rPr>
              <a:t>53:1)</a:t>
            </a:r>
            <a:endParaRPr b="0" lang="en-US" sz="2400" strike="noStrike" u="none">
              <a:solidFill>
                <a:srgbClr val="000000"/>
              </a:solidFill>
              <a:effectLst/>
              <a:highlight>
                <a:srgbClr val="d4ea6b"/>
              </a:highlight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380880" y="266760"/>
            <a:ext cx="4284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spcAft>
                <a:spcPts val="75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4d7a"/>
                </a:solidFill>
                <a:effectLst/>
                <a:uFillTx/>
                <a:latin typeface="Georgia"/>
                <a:ea typeface="Georgia"/>
              </a:rPr>
              <a:t>② พระเจ้าทรงยิ่งใหญ่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380880" y="1171440"/>
            <a:ext cx="2590560" cy="914040"/>
          </a:xfrm>
          <a:prstGeom prst="roundRect">
            <a:avLst>
              <a:gd name="adj" fmla="val 8333"/>
            </a:avLst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380880" y="1190520"/>
            <a:ext cx="2590920" cy="360"/>
          </a:xfrm>
          <a:prstGeom prst="line">
            <a:avLst/>
          </a:prstGeom>
          <a:ln w="38100">
            <a:solidFill>
              <a:srgbClr val="d4af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571680" y="1400040"/>
            <a:ext cx="2253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hi-IN" sz="120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ไม่มีสิ่งใดเทียบเท่า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571680" y="1704960"/>
            <a:ext cx="225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hi-IN" sz="105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อิสยาห์ 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40:18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3276720" y="1171440"/>
            <a:ext cx="2590560" cy="914040"/>
          </a:xfrm>
          <a:prstGeom prst="roundRect">
            <a:avLst>
              <a:gd name="adj" fmla="val 8333"/>
            </a:avLst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Shape 6"/>
          <p:cNvSpPr/>
          <p:nvPr/>
        </p:nvSpPr>
        <p:spPr>
          <a:xfrm>
            <a:off x="3276360" y="1190520"/>
            <a:ext cx="2590920" cy="360"/>
          </a:xfrm>
          <a:prstGeom prst="line">
            <a:avLst/>
          </a:prstGeom>
          <a:ln w="38100">
            <a:solidFill>
              <a:srgbClr val="d4af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3467160" y="1400040"/>
            <a:ext cx="2253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hi-IN" sz="120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ทรงสร้างโลก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3467160" y="1704960"/>
            <a:ext cx="225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hi-IN" sz="105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กิจการ 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17:25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6172200" y="1171440"/>
            <a:ext cx="2590560" cy="914040"/>
          </a:xfrm>
          <a:prstGeom prst="roundRect">
            <a:avLst>
              <a:gd name="adj" fmla="val 8333"/>
            </a:avLst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6172200" y="1190520"/>
            <a:ext cx="2590560" cy="360"/>
          </a:xfrm>
          <a:prstGeom prst="line">
            <a:avLst/>
          </a:prstGeom>
          <a:ln w="38100">
            <a:solidFill>
              <a:srgbClr val="d4af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6362640" y="1400040"/>
            <a:ext cx="2253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hi-IN" sz="120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ทรงกระทำการ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6362640" y="1704960"/>
            <a:ext cx="225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hi-IN" sz="105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ยอห์น 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5:16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380880" y="2390760"/>
            <a:ext cx="2590560" cy="914040"/>
          </a:xfrm>
          <a:prstGeom prst="roundRect">
            <a:avLst>
              <a:gd name="adj" fmla="val 8333"/>
            </a:avLst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Shape 14"/>
          <p:cNvSpPr/>
          <p:nvPr/>
        </p:nvSpPr>
        <p:spPr>
          <a:xfrm>
            <a:off x="380880" y="2409480"/>
            <a:ext cx="2590920" cy="360"/>
          </a:xfrm>
          <a:prstGeom prst="line">
            <a:avLst/>
          </a:prstGeom>
          <a:ln w="38100">
            <a:solidFill>
              <a:srgbClr val="d4af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5"/>
          <p:cNvSpPr/>
          <p:nvPr/>
        </p:nvSpPr>
        <p:spPr>
          <a:xfrm>
            <a:off x="571680" y="2619360"/>
            <a:ext cx="2253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hi-IN" sz="120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ดำรงอยู่นิรันดร์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571680" y="2924280"/>
            <a:ext cx="225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hi-IN" sz="105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สดุดี 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90:2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3276720" y="2390760"/>
            <a:ext cx="2590560" cy="914040"/>
          </a:xfrm>
          <a:prstGeom prst="roundRect">
            <a:avLst>
              <a:gd name="adj" fmla="val 8333"/>
            </a:avLst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Shape 18"/>
          <p:cNvSpPr/>
          <p:nvPr/>
        </p:nvSpPr>
        <p:spPr>
          <a:xfrm>
            <a:off x="3276360" y="2409480"/>
            <a:ext cx="2590920" cy="360"/>
          </a:xfrm>
          <a:prstGeom prst="line">
            <a:avLst/>
          </a:prstGeom>
          <a:ln w="38100">
            <a:solidFill>
              <a:srgbClr val="d4af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3467160" y="2619360"/>
            <a:ext cx="2253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hi-IN" sz="120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ไม่มีสิ้นสุด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3467160" y="2924280"/>
            <a:ext cx="225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hi-IN" sz="105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โยบ 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36:26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6172200" y="2390760"/>
            <a:ext cx="2590560" cy="914040"/>
          </a:xfrm>
          <a:prstGeom prst="roundRect">
            <a:avLst>
              <a:gd name="adj" fmla="val 8333"/>
            </a:avLst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Shape 22"/>
          <p:cNvSpPr/>
          <p:nvPr/>
        </p:nvSpPr>
        <p:spPr>
          <a:xfrm>
            <a:off x="6172200" y="2409480"/>
            <a:ext cx="2590560" cy="360"/>
          </a:xfrm>
          <a:prstGeom prst="line">
            <a:avLst/>
          </a:prstGeom>
          <a:ln w="38100">
            <a:solidFill>
              <a:srgbClr val="d4af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3"/>
          <p:cNvSpPr/>
          <p:nvPr/>
        </p:nvSpPr>
        <p:spPr>
          <a:xfrm>
            <a:off x="6362640" y="2619360"/>
            <a:ext cx="2253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hi-IN" sz="120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พระเจ้านิรันดร์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4"/>
          <p:cNvSpPr/>
          <p:nvPr/>
        </p:nvSpPr>
        <p:spPr>
          <a:xfrm>
            <a:off x="6362640" y="2924280"/>
            <a:ext cx="225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hi-IN" sz="105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โรม 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16:26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0" descr="/tmp/rasterized-gradient-1d7ba031.png"/>
          <p:cNvPicPr/>
          <p:nvPr/>
        </p:nvPicPr>
        <p:blipFill>
          <a:blip r:embed="rId1"/>
          <a:stretch/>
        </p:blipFill>
        <p:spPr>
          <a:xfrm>
            <a:off x="380880" y="3610080"/>
            <a:ext cx="838152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25"/>
          <p:cNvSpPr/>
          <p:nvPr/>
        </p:nvSpPr>
        <p:spPr>
          <a:xfrm>
            <a:off x="530280" y="3838680"/>
            <a:ext cx="8083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hi-IN" sz="1800" strike="noStrike" u="none">
                <a:solidFill>
                  <a:srgbClr val="1d1d1d"/>
                </a:solidFill>
                <a:effectLst/>
                <a:uFillTx/>
                <a:latin typeface="Arial"/>
                <a:cs typeface="Arial"/>
              </a:rPr>
              <a:t>พระเจ้าของเราทรงยิ่งใหญ่เหนือความเข้าใจ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380880" y="4737240"/>
            <a:ext cx="43362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hi-IN" sz="10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อิสยาห์ </a:t>
            </a:r>
            <a:r>
              <a:rPr b="0" lang="en-US" sz="10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40:18 | </a:t>
            </a:r>
            <a:r>
              <a:rPr b="0" lang="hi-IN" sz="10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กิจการ </a:t>
            </a:r>
            <a:r>
              <a:rPr b="0" lang="en-US" sz="10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17:25 | </a:t>
            </a:r>
            <a:r>
              <a:rPr b="0" lang="hi-IN" sz="10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ยอห์น </a:t>
            </a:r>
            <a:r>
              <a:rPr b="0" lang="en-US" sz="10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5:16 | </a:t>
            </a:r>
            <a:r>
              <a:rPr b="0" lang="hi-IN" sz="10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สดุดี </a:t>
            </a:r>
            <a:r>
              <a:rPr b="0" lang="en-US" sz="10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90:2 | </a:t>
            </a:r>
            <a:r>
              <a:rPr b="0" lang="hi-IN" sz="10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โยบ </a:t>
            </a:r>
            <a:r>
              <a:rPr b="0" lang="en-US" sz="10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36:26 | </a:t>
            </a:r>
            <a:r>
              <a:rPr b="0" lang="hi-IN" sz="10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โรม </a:t>
            </a:r>
            <a:r>
              <a:rPr b="0" lang="en-US" sz="10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16:26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edce6"/>
            </a:gs>
            <a:gs pos="100000">
              <a:srgbClr val="ffffff"/>
            </a:gs>
          </a:gsLst>
          <a:lin ang="36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 txBox="1"/>
          <p:nvPr/>
        </p:nvSpPr>
        <p:spPr>
          <a:xfrm>
            <a:off x="482760" y="489960"/>
            <a:ext cx="3909240" cy="2253240"/>
          </a:xfrm>
          <a:prstGeom prst="rect">
            <a:avLst/>
          </a:prstGeom>
          <a:solidFill>
            <a:srgbClr val="fff5ce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ท่านทั้งหลายจะเปรียบพระเจ้าเหมือนกับใคร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หรือเปรียบพระองค์คล้ายกับอะไร</a:t>
            </a:r>
            <a:r>
              <a:rPr b="0" lang="en-US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?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r>
              <a:rPr b="0" lang="en-US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(</a:t>
            </a:r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อิสยาห์ </a:t>
            </a:r>
            <a:r>
              <a:rPr b="0" lang="en-US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40:18)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4777560" y="457200"/>
            <a:ext cx="3909240" cy="3975120"/>
          </a:xfrm>
          <a:prstGeom prst="rect">
            <a:avLst/>
          </a:prstGeom>
          <a:solidFill>
            <a:srgbClr val="fff5ce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พระองค์ไม่จำเป็นต้องให้มือมนุษย์มารับใช้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ราวกับว่ามีความต้องการสิ่งหนึ่งสิ่งใด 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เพราะพระองค์ต่างหากที่ทรงเป็นผู้ประทานชีวิต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และลมหายใจและสิ่งสารพัดแก่คนทั้งปวง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r>
              <a:rPr b="0" lang="en-US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(</a:t>
            </a:r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กิจการ </a:t>
            </a:r>
            <a:r>
              <a:rPr b="0" lang="en-US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17:25)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edce6"/>
            </a:gs>
            <a:gs pos="100000">
              <a:srgbClr val="ffffff"/>
            </a:gs>
          </a:gsLst>
          <a:lin ang="36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 txBox="1"/>
          <p:nvPr/>
        </p:nvSpPr>
        <p:spPr>
          <a:xfrm>
            <a:off x="482760" y="2093400"/>
            <a:ext cx="3909240" cy="2250000"/>
          </a:xfrm>
          <a:prstGeom prst="rect">
            <a:avLst/>
          </a:prstGeom>
          <a:solidFill>
            <a:srgbClr val="fff5ce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เพราะเหตุนี้พวกยิวจึงเริ่มต้นข่มเหงพระเยซู 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เพราะพระองค์ทรงทำสิ่งเหล่านี้ในวันสะบาโต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(</a:t>
            </a:r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ยอห์น </a:t>
            </a:r>
            <a:r>
              <a:rPr b="0" lang="en-US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5:16)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4343400" y="457200"/>
            <a:ext cx="4343400" cy="2681280"/>
          </a:xfrm>
          <a:prstGeom prst="rect">
            <a:avLst/>
          </a:prstGeom>
          <a:solidFill>
            <a:srgbClr val="fff5ce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ก่อนที่ภูเขาทั้งหลายเกิดขึ้นมา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ก่อนที่พระองค์ทรงให้กำเนิด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แผ่นดินโลกและพิภพ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พระองค์ทรงเป็นพระเจ้าตั้งแต่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นิรันดร์กาลถึงนิรันดร์กาล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(</a:t>
            </a:r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สดุดี </a:t>
            </a:r>
            <a:r>
              <a:rPr b="0" lang="en-US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90:2)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edce6"/>
            </a:gs>
            <a:gs pos="100000">
              <a:srgbClr val="ffffff"/>
            </a:gs>
          </a:gsLst>
          <a:lin ang="36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434160" y="2093400"/>
            <a:ext cx="3909240" cy="2250000"/>
          </a:xfrm>
          <a:prstGeom prst="rect">
            <a:avLst/>
          </a:prstGeom>
          <a:solidFill>
            <a:srgbClr val="fff5ce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ดูเถิด พระเจ้าก็ใหญ่ยิ่ง และเราหาหยั่งรู้ถึงพระองค์ไม่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อายุของพระองค์เป็นสิ่งที่ค้นหากันไม่ได้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r>
              <a:rPr b="0" lang="en-US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(</a:t>
            </a:r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โยบ </a:t>
            </a:r>
            <a:r>
              <a:rPr b="0" lang="en-US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36:26)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548960" y="457200"/>
            <a:ext cx="4366440" cy="3975120"/>
          </a:xfrm>
          <a:prstGeom prst="rect">
            <a:avLst/>
          </a:prstGeom>
          <a:solidFill>
            <a:srgbClr val="fff5ce"/>
          </a:solidFill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แต่เดี๋ยวนี้ได้เปิดเผยให้ปรากฏแล้ว 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โดยคำเขียนของ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บรรดาผู้เผยพระวจนะ 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ให้ชนทุกชาติเห็นประจักษ์ 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ตามซึ่งพระเจ้าผู้ทรงดำรงเป็นนิตย์ 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ได้ทรงบัญชาไว้เพื่อให้เขาได้เชื่อ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(</a:t>
            </a:r>
            <a:r>
              <a:rPr b="0" lang="hi-IN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โรม </a:t>
            </a:r>
            <a:r>
              <a:rPr b="0" lang="en-US" sz="26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16:26)</a:t>
            </a:r>
            <a:endParaRPr b="0" lang="en-US" sz="2600" strike="noStrike" u="none">
              <a:solidFill>
                <a:srgbClr val="7b3d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380880" y="266760"/>
            <a:ext cx="4284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spcAft>
                <a:spcPts val="75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4d7a"/>
                </a:solidFill>
                <a:effectLst/>
                <a:uFillTx/>
                <a:latin typeface="Georgia"/>
                <a:ea typeface="Georgia"/>
              </a:rPr>
              <a:t>③ พระเจ้าทรงบริสุทธิ์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0" descr="/tmp/rasterized-gradient-d03634a3.png"/>
          <p:cNvPicPr/>
          <p:nvPr/>
        </p:nvPicPr>
        <p:blipFill>
          <a:blip r:embed="rId1"/>
          <a:stretch/>
        </p:blipFill>
        <p:spPr>
          <a:xfrm>
            <a:off x="380880" y="1647720"/>
            <a:ext cx="3243960" cy="22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1"/>
          <p:cNvSpPr/>
          <p:nvPr/>
        </p:nvSpPr>
        <p:spPr>
          <a:xfrm>
            <a:off x="1469160" y="1933560"/>
            <a:ext cx="10670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999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hi-IN" sz="27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บริสุทธิ์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999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hi-IN" sz="27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บริสุทธิ์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999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hi-IN" sz="27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บริสุทธิ์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1004040" y="3381480"/>
            <a:ext cx="1997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hi-IN" sz="12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พระเจ้าผู้ทรงฤทธานุภาพสูงสุด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3930120" y="1181160"/>
            <a:ext cx="4832640" cy="914040"/>
          </a:xfrm>
          <a:prstGeom prst="roundRect">
            <a:avLst>
              <a:gd name="adj" fmla="val 8333"/>
            </a:avLst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 4"/>
          <p:cNvSpPr/>
          <p:nvPr/>
        </p:nvSpPr>
        <p:spPr>
          <a:xfrm>
            <a:off x="4120560" y="1371600"/>
            <a:ext cx="4540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hi-IN" sz="135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ทรงบริสุทธิ์ ไม่มีความชั่วร้าย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4120560" y="1714680"/>
            <a:ext cx="45406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hi-IN" sz="105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ยอห์น 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6:3 | </a:t>
            </a:r>
            <a:r>
              <a:rPr b="0" lang="hi-IN" sz="105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ยากอบ 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1:13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3930120" y="2247840"/>
            <a:ext cx="4832640" cy="914040"/>
          </a:xfrm>
          <a:prstGeom prst="roundRect">
            <a:avLst>
              <a:gd name="adj" fmla="val 8333"/>
            </a:avLst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 7"/>
          <p:cNvSpPr/>
          <p:nvPr/>
        </p:nvSpPr>
        <p:spPr>
          <a:xfrm>
            <a:off x="4120560" y="2438280"/>
            <a:ext cx="4540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hi-IN" sz="135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ไม่มีใครเหมือนพระเจ้า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4120560" y="2781360"/>
            <a:ext cx="45406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hi-IN" sz="105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อิสยาห์ 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46:9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3930120" y="3314880"/>
            <a:ext cx="4832640" cy="1047240"/>
          </a:xfrm>
          <a:prstGeom prst="roundRect">
            <a:avLst>
              <a:gd name="adj" fmla="val 7273"/>
            </a:avLst>
          </a:prstGeom>
          <a:solidFill>
            <a:srgbClr val="d4af37"/>
          </a:solidFill>
          <a:ln w="28575">
            <a:solidFill>
              <a:srgbClr val="1a4d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4143960" y="3571920"/>
            <a:ext cx="44046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hi-IN" sz="1500" strike="noStrike" u="none">
                <a:solidFill>
                  <a:srgbClr val="1d1d1d"/>
                </a:solidFill>
                <a:effectLst/>
                <a:uFillTx/>
                <a:latin typeface="Arial"/>
                <a:cs typeface="Arial"/>
              </a:rPr>
              <a:t>พระเจ้าทรงแยกต่างหาก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hi-IN" sz="1500" strike="noStrike" u="none">
                <a:solidFill>
                  <a:srgbClr val="1d1d1d"/>
                </a:solidFill>
                <a:effectLst/>
                <a:uFillTx/>
                <a:latin typeface="Arial"/>
                <a:cs typeface="Arial"/>
              </a:rPr>
              <a:t>จากบาปและความชั่วร้ายทั้งสิ้น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1"/>
          <p:cNvSpPr/>
          <p:nvPr/>
        </p:nvSpPr>
        <p:spPr>
          <a:xfrm>
            <a:off x="380880" y="4737240"/>
            <a:ext cx="21081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hi-IN" sz="10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ยอห์น </a:t>
            </a:r>
            <a:r>
              <a:rPr b="0" lang="en-US" sz="10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6:3 | </a:t>
            </a:r>
            <a:r>
              <a:rPr b="0" lang="hi-IN" sz="10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ยากอบ </a:t>
            </a:r>
            <a:r>
              <a:rPr b="0" lang="en-US" sz="10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1:13 | </a:t>
            </a:r>
            <a:r>
              <a:rPr b="0" lang="hi-IN" sz="10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อิสยาห์ </a:t>
            </a:r>
            <a:r>
              <a:rPr b="0" lang="en-US" sz="10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46:9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2"/>
          <a:stretch/>
        </p:blipFill>
        <p:spPr>
          <a:xfrm>
            <a:off x="372600" y="120960"/>
            <a:ext cx="8314200" cy="484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"/>
          <p:cNvSpPr txBox="1"/>
          <p:nvPr/>
        </p:nvSpPr>
        <p:spPr>
          <a:xfrm>
            <a:off x="505800" y="239760"/>
            <a:ext cx="3954240" cy="248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hi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ต่างก็ร้องต่อกันและกันว่า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“บริสุทธิ์ บริสุทธิ์ บริสุทธิ์ พระยาห์เวห์จอมทัพ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แผ่นดินโลกทั้งสิ้นเต็มด้วยพระสิริของพระองค์”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b="0" lang="hi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อิสยาห์ 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6:3)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4472640" y="2032200"/>
            <a:ext cx="4201560" cy="29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0" lang="hi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อย่าให้คนที่ถูกล่อลวงกล่าวว่า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“พระเจ้าทรงล่อลวงข้าพเจ้า”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เพราะว่าพระเจ้าจะไม่ถูกความชั่วล่อลวง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และพระองค์เองก็ไม่ทรงล่อลวงใครเลย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b="0" lang="hi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ยากอบ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1:13)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" descr=""/>
          <p:cNvPicPr/>
          <p:nvPr/>
        </p:nvPicPr>
        <p:blipFill>
          <a:blip r:embed="rId2"/>
          <a:stretch/>
        </p:blipFill>
        <p:spPr>
          <a:xfrm>
            <a:off x="372600" y="120960"/>
            <a:ext cx="8314200" cy="484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"/>
          <p:cNvSpPr txBox="1"/>
          <p:nvPr/>
        </p:nvSpPr>
        <p:spPr>
          <a:xfrm>
            <a:off x="1371600" y="1188360"/>
            <a:ext cx="5943600" cy="326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จงจำสิ่งที่ล่วงเลยมานานแล้ว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เพราะเราเป็นพระเจ้า และไม่มีผู้อื่นอีก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เราเป็นพระเจ้า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และไม่มีใครเป็นเหมือนเรา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อิสยาห์ 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46:9)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380880" y="266760"/>
            <a:ext cx="448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spcAft>
                <a:spcPts val="75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4d7a"/>
                </a:solidFill>
                <a:effectLst/>
                <a:uFillTx/>
                <a:latin typeface="Georgia"/>
                <a:ea typeface="Georgia"/>
              </a:rPr>
              <a:t>④ พระเจ้าเป็นความรัก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/tmp/rasterized-gradient-774cf05f.png"/>
          <p:cNvPicPr/>
          <p:nvPr/>
        </p:nvPicPr>
        <p:blipFill>
          <a:blip r:embed="rId1"/>
          <a:stretch/>
        </p:blipFill>
        <p:spPr>
          <a:xfrm>
            <a:off x="380880" y="752400"/>
            <a:ext cx="8381520" cy="140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1"/>
          <p:cNvSpPr/>
          <p:nvPr/>
        </p:nvSpPr>
        <p:spPr>
          <a:xfrm>
            <a:off x="608040" y="1057320"/>
            <a:ext cx="79275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999"/>
              </a:lnSpc>
              <a:spcAft>
                <a:spcPts val="1199"/>
              </a:spcAft>
              <a:tabLst>
                <a:tab algn="l" pos="0"/>
              </a:tabLst>
            </a:pPr>
            <a:r>
              <a:rPr b="1" lang="hi-IN" sz="2700" strike="noStrike" u="none">
                <a:solidFill>
                  <a:srgbClr val="1d1d1d"/>
                </a:solidFill>
                <a:effectLst/>
                <a:uFillTx/>
                <a:latin typeface="Arial"/>
                <a:cs typeface="Arial"/>
              </a:rPr>
              <a:t>พระเจ้าทรงเป็นความรัก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608040" y="1590840"/>
            <a:ext cx="7927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1 </a:t>
            </a:r>
            <a:r>
              <a:rPr b="0" lang="hi-IN" sz="1350" strike="noStrike" u="none">
                <a:solidFill>
                  <a:srgbClr val="1d1d1d"/>
                </a:solidFill>
                <a:effectLst/>
                <a:uFillTx/>
                <a:latin typeface="Arial"/>
                <a:cs typeface="Arial"/>
              </a:rPr>
              <a:t>ยอห์น </a:t>
            </a:r>
            <a:r>
              <a:rPr b="0" lang="en-US" sz="13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4:8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380880" y="2467080"/>
            <a:ext cx="4061880" cy="1066320"/>
          </a:xfrm>
          <a:prstGeom prst="roundRect">
            <a:avLst>
              <a:gd name="adj" fmla="val 7143"/>
            </a:avLst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Shape 4"/>
          <p:cNvSpPr/>
          <p:nvPr/>
        </p:nvSpPr>
        <p:spPr>
          <a:xfrm>
            <a:off x="404640" y="2466720"/>
            <a:ext cx="360" cy="1067040"/>
          </a:xfrm>
          <a:prstGeom prst="line">
            <a:avLst/>
          </a:prstGeom>
          <a:ln w="47625">
            <a:solidFill>
              <a:srgbClr val="1a4d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657360" y="2695680"/>
            <a:ext cx="3628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hi-IN" sz="150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พระเจ้าทรงอยู่ฝ่ายเรา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657360" y="3076560"/>
            <a:ext cx="36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hi-IN" sz="12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โรม </a:t>
            </a:r>
            <a:r>
              <a:rPr b="0" lang="en-US" sz="12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8:31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4748040" y="2486160"/>
            <a:ext cx="4014360" cy="1028520"/>
          </a:xfrm>
          <a:prstGeom prst="roundRect">
            <a:avLst>
              <a:gd name="adj" fmla="val 7407"/>
            </a:avLst>
          </a:prstGeom>
          <a:solidFill>
            <a:srgbClr val="1a4d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4976640" y="2714760"/>
            <a:ext cx="3628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hi-IN" sz="15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ความรักที่ไม่มีเงื่อนไข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4976640" y="3057480"/>
            <a:ext cx="36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hi-IN" sz="1200" strike="noStrike" u="non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พระเจ้าทรงรักเราก่อนที่เราจะรู้จักพระองค์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380880" y="3838680"/>
            <a:ext cx="8381520" cy="9522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9050">
            <a:solidFill>
              <a:srgbClr val="d4af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510840" y="4048200"/>
            <a:ext cx="81219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hi-IN" sz="135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พระเจ้าทรงแสดงความรักของพระองค์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hi-IN" sz="1350" strike="noStrike" u="none">
                <a:solidFill>
                  <a:srgbClr val="1a4d7a"/>
                </a:solidFill>
                <a:effectLst/>
                <a:uFillTx/>
                <a:latin typeface="Arial"/>
                <a:cs typeface="Arial"/>
              </a:rPr>
              <a:t>ผ่านพระบุตรคือพระเยซูคริสต์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380880" y="4737240"/>
            <a:ext cx="12693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 </a:t>
            </a:r>
            <a:r>
              <a:rPr b="0" lang="hi-IN" sz="10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ยอห์น </a:t>
            </a:r>
            <a:r>
              <a:rPr b="0" lang="en-US" sz="10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4:8 | </a:t>
            </a:r>
            <a:r>
              <a:rPr b="0" lang="hi-IN" sz="1000" strike="noStrike" u="none">
                <a:solidFill>
                  <a:srgbClr val="666666"/>
                </a:solidFill>
                <a:effectLst/>
                <a:uFillTx/>
                <a:latin typeface="Arial"/>
                <a:cs typeface="Arial"/>
              </a:rPr>
              <a:t>โรม </a:t>
            </a:r>
            <a:r>
              <a:rPr b="0" lang="en-US" sz="10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8:31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401680" cy="4800600"/>
          </a:xfrm>
          <a:prstGeom prst="rect">
            <a:avLst/>
          </a:prstGeom>
          <a:noFill/>
          <a:ln w="0">
            <a:noFill/>
          </a:ln>
          <a:effectLst>
            <a:softEdge rad="635040"/>
          </a:effectLst>
        </p:spPr>
      </p:pic>
      <p:sp>
        <p:nvSpPr>
          <p:cNvPr id="106" name=""/>
          <p:cNvSpPr txBox="1"/>
          <p:nvPr/>
        </p:nvSpPr>
        <p:spPr>
          <a:xfrm>
            <a:off x="1361520" y="669960"/>
            <a:ext cx="4810680" cy="138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hi-IN" sz="26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ผู้ที่ไม่รักก็ไม่รู้จักพระเจ้า เพราะว่าพระเจ้าทรงเป็นความรัก</a:t>
            </a:r>
            <a:endParaRPr b="0" lang="en-US" sz="2600" strike="noStrike" u="none">
              <a:solidFill>
                <a:srgbClr val="2a6099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26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(1 </a:t>
            </a:r>
            <a:r>
              <a:rPr b="0" lang="hi-IN" sz="26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ยอห์น </a:t>
            </a:r>
            <a:r>
              <a:rPr b="0" lang="en-US" sz="26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4:8)</a:t>
            </a:r>
            <a:endParaRPr b="0" lang="en-US" sz="2600" strike="noStrike" u="none">
              <a:solidFill>
                <a:srgbClr val="2a6099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931400" y="2514600"/>
            <a:ext cx="5841000" cy="225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0" lang="hi-IN" sz="26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ถ้าอย่างนั้น สิ่งเหล่านี้เราจะว่าอย่างไร</a:t>
            </a:r>
            <a:r>
              <a:rPr b="0" lang="en-US" sz="26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? </a:t>
            </a:r>
            <a:endParaRPr b="0" lang="en-US" sz="2600" strike="noStrike" u="none">
              <a:solidFill>
                <a:srgbClr val="2a6099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6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ถ้าพระเจ้าทรงอยู่ฝ่ายเรา ใครจะขัดขวางเราได้</a:t>
            </a:r>
            <a:r>
              <a:rPr b="0" lang="en-US" sz="26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?</a:t>
            </a:r>
            <a:endParaRPr b="0" lang="en-US" sz="2600" strike="noStrike" u="none">
              <a:solidFill>
                <a:srgbClr val="2a6099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26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(</a:t>
            </a:r>
            <a:r>
              <a:rPr b="0" lang="hi-IN" sz="26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โรม  </a:t>
            </a:r>
            <a:r>
              <a:rPr b="0" lang="en-US" sz="26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8:31)</a:t>
            </a:r>
            <a:endParaRPr b="0" lang="en-US" sz="2600" strike="noStrike" u="none">
              <a:solidFill>
                <a:srgbClr val="2a609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401680" cy="4800600"/>
          </a:xfrm>
          <a:prstGeom prst="rect">
            <a:avLst/>
          </a:prstGeom>
          <a:noFill/>
          <a:ln w="0">
            <a:noFill/>
          </a:ln>
          <a:effectLst>
            <a:glow rad="254160">
              <a:srgbClr val="b4c7dc"/>
            </a:glow>
            <a:softEdge rad="380880"/>
          </a:effectLst>
        </p:spPr>
      </p:pic>
      <p:sp>
        <p:nvSpPr>
          <p:cNvPr id="109" name=""/>
          <p:cNvSpPr txBox="1"/>
          <p:nvPr/>
        </p:nvSpPr>
        <p:spPr>
          <a:xfrm>
            <a:off x="1361520" y="453960"/>
            <a:ext cx="6182280" cy="48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en-US" sz="24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23 “</a:t>
            </a:r>
            <a:r>
              <a:rPr b="0" lang="hi-IN" sz="24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พระยาห์เวห์ตรัสดังนี้ว่า </a:t>
            </a:r>
            <a:endParaRPr b="0" lang="en-US" sz="2400" strike="noStrike" u="none">
              <a:solidFill>
                <a:srgbClr val="2a6099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4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อย่าให้ผู้มีปัญญาอวดสติปัญญาของตน </a:t>
            </a:r>
            <a:endParaRPr b="0" lang="en-US" sz="2400" strike="noStrike" u="none">
              <a:solidFill>
                <a:srgbClr val="2a6099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4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อย่าให้ชายฉกรรจ์อวดความเข้มแข็งของตน </a:t>
            </a:r>
            <a:endParaRPr b="0" lang="en-US" sz="2400" strike="noStrike" u="none">
              <a:solidFill>
                <a:srgbClr val="2a6099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4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อย่าให้คนมั่งมีอวดความมั่งคั่งของตน </a:t>
            </a:r>
            <a:endParaRPr b="0" lang="en-US" sz="2400" strike="noStrike" u="none">
              <a:solidFill>
                <a:srgbClr val="2a6099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24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24 </a:t>
            </a:r>
            <a:r>
              <a:rPr b="0" lang="hi-IN" sz="24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แต่ให้ผู้อวดอวดสิ่งนี้ </a:t>
            </a:r>
            <a:endParaRPr b="0" lang="en-US" sz="2400" strike="noStrike" u="none">
              <a:solidFill>
                <a:srgbClr val="2a6099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4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คือการที่เขาเข้าใจและรู้จักเราว่าเราคือพระยาห์เวห์ </a:t>
            </a:r>
            <a:endParaRPr b="0" lang="en-US" sz="2400" strike="noStrike" u="none">
              <a:solidFill>
                <a:srgbClr val="2a6099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4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ผู้สำแดงความรักมั่นคง ความยุติธรรม </a:t>
            </a:r>
            <a:endParaRPr b="0" lang="en-US" sz="2400" strike="noStrike" u="none">
              <a:solidFill>
                <a:srgbClr val="2a6099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4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และความชอบธรรมในโลก </a:t>
            </a:r>
            <a:endParaRPr b="0" lang="en-US" sz="2400" strike="noStrike" u="none">
              <a:solidFill>
                <a:srgbClr val="2a6099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4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เพราะเราพอใจในสิ่งเหล่านี้” </a:t>
            </a:r>
            <a:endParaRPr b="0" lang="en-US" sz="2400" strike="noStrike" u="none">
              <a:solidFill>
                <a:srgbClr val="2a6099"/>
              </a:solidFill>
              <a:effectLst/>
              <a:uFillTx/>
              <a:latin typeface="Arial"/>
            </a:endParaRPr>
          </a:p>
          <a:p>
            <a:pPr algn="ctr"/>
            <a:r>
              <a:rPr b="0" lang="hi-IN" sz="24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พระยาห์เวห์ตรัสดังนี้แหละ</a:t>
            </a:r>
            <a:endParaRPr b="0" lang="en-US" sz="2400" strike="noStrike" u="none">
              <a:solidFill>
                <a:srgbClr val="2a6099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24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(</a:t>
            </a:r>
            <a:r>
              <a:rPr b="0" lang="hi-IN" sz="24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เยเรมีย์  </a:t>
            </a:r>
            <a:r>
              <a:rPr b="0" lang="en-US" sz="24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9:23-24)</a:t>
            </a:r>
            <a:endParaRPr b="0" lang="en-US" sz="2400" strike="noStrike" u="none">
              <a:solidFill>
                <a:srgbClr val="2a609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4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3020040" y="747720"/>
            <a:ext cx="3103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3600"/>
              </a:lnSpc>
              <a:tabLst>
                <a:tab algn="l" pos="0"/>
              </a:tabLst>
            </a:pPr>
            <a:r>
              <a:rPr b="1" lang="hi-IN" sz="3600" strike="noStrike" u="none">
                <a:solidFill>
                  <a:srgbClr val="ffffff"/>
                </a:solidFill>
                <a:effectLst/>
                <a:uFillTx/>
                <a:latin typeface="Georgia"/>
                <a:cs typeface="Georgia"/>
              </a:rPr>
              <a:t>การรู้จักพระเจ้า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4190760" y="1357200"/>
            <a:ext cx="761760" cy="2808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3050640" y="1538280"/>
            <a:ext cx="3042360" cy="53316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3069360" y="1538280"/>
            <a:ext cx="360" cy="533160"/>
          </a:xfrm>
          <a:prstGeom prst="line">
            <a:avLst/>
          </a:prstGeom>
          <a:ln w="38100">
            <a:solidFill>
              <a:srgbClr val="d4af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3291840" y="1671480"/>
            <a:ext cx="2598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① พระเจ้าทรงพระชนม์อยู่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3050640" y="2147760"/>
            <a:ext cx="3042360" cy="53316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3069360" y="2147760"/>
            <a:ext cx="360" cy="533520"/>
          </a:xfrm>
          <a:prstGeom prst="line">
            <a:avLst/>
          </a:prstGeom>
          <a:ln w="38100">
            <a:solidFill>
              <a:srgbClr val="d4af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3291840" y="2281320"/>
            <a:ext cx="2598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② พระเจ้าทรงยิ่งใหญ่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3050640" y="2757600"/>
            <a:ext cx="3042360" cy="53316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3069360" y="2757240"/>
            <a:ext cx="360" cy="533520"/>
          </a:xfrm>
          <a:prstGeom prst="line">
            <a:avLst/>
          </a:prstGeom>
          <a:ln w="38100">
            <a:solidFill>
              <a:srgbClr val="d4af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3291840" y="2890800"/>
            <a:ext cx="2598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③ พระเจ้าทรงบริสุทธิ์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3050640" y="3367080"/>
            <a:ext cx="3042360" cy="53316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3069360" y="3367080"/>
            <a:ext cx="360" cy="533160"/>
          </a:xfrm>
          <a:prstGeom prst="line">
            <a:avLst/>
          </a:prstGeom>
          <a:ln w="38100">
            <a:solidFill>
              <a:srgbClr val="d4af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3291840" y="3500280"/>
            <a:ext cx="2598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④ พระเจ้าเป็นความรัก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2025-11-28T12:43:07Z</dcterms:created>
  <dc:creator>สร้างโดย Claude</dc:creator>
  <dc:description/>
  <dc:language>en-US</dc:language>
  <cp:lastModifiedBy/>
  <dcterms:modified xsi:type="dcterms:W3CDTF">2025-11-28T22:44:08Z</dcterms:modified>
  <cp:revision>2</cp:revision>
  <dc:subject>การศึกษาพระคัมภีร์</dc:subject>
  <dc:title>การรู้จักพระเจ้า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