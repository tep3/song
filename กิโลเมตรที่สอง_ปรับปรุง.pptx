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98448"/>
            <a:ext cx="4663440" cy="393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828800"/>
            <a:ext cx="61264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5F1E8"/>
                </a:solidFill>
                <a:latin typeface="Sarabun"/>
              </a:rPr>
              <a:t>ตอบแทนการร้ายด้วย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600" b="1" i="0">
                <a:solidFill>
                  <a:srgbClr val="F0CE92"/>
                </a:solidFill>
                <a:latin typeface="Sarabun"/>
              </a:rPr>
              <a:t>กิโลเมตรที่สอง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4572000"/>
            <a:ext cx="3383280" cy="749808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5875">
            <a:solidFill>
              <a:srgbClr val="E0A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CE92"/>
                </a:solidFill>
                <a:latin typeface="Sarabun"/>
              </a:rPr>
              <a:t>มัทธิว 5:38-42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548640"/>
            <a:ext cx="8229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CE92"/>
                </a:solidFill>
                <a:latin typeface="Sarabun"/>
              </a:rPr>
              <a:t>มัทธิว 5:38-42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78440" cy="525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38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ท่านทั้งหลายได้ยินคำซึ่งกล่าวไว้ว่า `ตาแทนตา และฟันแทนฟัน'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39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ส่วนเราบอกพวกท่านว่า อย่าต่อสู้คนชั่ว ถ้าใครตบแก้มขวาของท่านก็จงหันแก้มอีกข้างหนึ่งให้เขาด้วย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40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ถ้าใครต้องการจะฟ้องศาล เพื่อจะปรับเอาเสื้อของท่านไป ก็จงสละเสื้อคลุมให้เขาด้วย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41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ถ้าใครจะเกณฑ์ท่านให้เดินทางไปหนึ่งกิโลเมตร ก็ให้เลยไปกับเขาถึงสองกิโลเมตร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42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ถ้าเขาจะขอสิ่งใดจากท่าน ก็จงให้ อย่าเมินหน้าจากผู้ที่ต้องการขอยืมจากท่าน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81328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กรณีที่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1E8"/>
                </a:solidFill>
                <a:latin typeface="Sarabun"/>
              </a:rPr>
              <a:t>พระเยซูบอกว่า ใครตบแก้มขวา ก็ให้หันแก้มซ้ายให้อีกข้าง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81328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กรณีที่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1E8"/>
                </a:solidFill>
                <a:latin typeface="Sarabun"/>
              </a:rPr>
              <a:t>ใครถูกฟ้องศาลเอาเสื้อผ้าให้เอาเสื้อคลุมไปด้วย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as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81328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กรณีที่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1E8"/>
                </a:solidFill>
                <a:latin typeface="Sarabun"/>
              </a:rPr>
              <a:t>ถูกเกณฑ์ให้เดินทางไปหนึ่งกิโลเมตร ก็ให้เลยไปถึงสองกิโลเมตร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as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81328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612648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กรณีที่ 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1E8"/>
                </a:solidFill>
                <a:latin typeface="Sarabun"/>
              </a:rPr>
              <a:t>ถูกขอสิ่งใดก็อย่าเมินหน้า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548640"/>
            <a:ext cx="8229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CE92"/>
                </a:solidFill>
                <a:latin typeface="Sarabun"/>
              </a:rPr>
              <a:t>อพยพ 20:1-17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4617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พระเจ้าตรัสพระวจนะทั้งสิ้นต่อไปนี้ว่า</a:t>
            </a:r>
          </a:p>
          <a:p>
            <a:pPr algn="l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2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“เราคือยาห์เวห์พระเจ้าของเจ้า ผู้ได้นำเจ้าออกจากแผ่นดินอียิปต์คือจากแดนทาส</a:t>
            </a:r>
          </a:p>
          <a:p>
            <a:pPr algn="l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3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“ห้ามมีพระเจ้าอื่นใดนอกเหนือจากเรา</a:t>
            </a:r>
          </a:p>
          <a:p>
            <a:pPr algn="l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4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“ห้ามทำรูปเคารพสำหรับตน เป็นรูปสิ่งใดซึ่งมีอยู่ในฟ้าเบื้องบน หรือบนแผ่นดินเบื้องล่าง หรือในน้ำใต้แผ่นดิน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3035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9B4CE"/>
                </a:solidFill>
                <a:latin typeface="Sarabun"/>
              </a:rPr>
              <a:t>อพยพ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480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99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5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ห้ามกราบไหว้หรือปรนนิบัติรูปเหล่านั้น เพราะเราคือยาห์เวห์พระเจ้าของเจ้า เป็นพระเจ้าที่หวงแหน ให้โทษของบิดาตกทอดไปถึงลูกหลานของผู้ที่ชังเราจนถึงสามชั่วสี่ชั่วอายุคน</a:t>
            </a:r>
          </a:p>
          <a:p>
            <a:pPr algn="l">
              <a:lnSpc>
                <a:spcPct val="112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6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แต่แสดงความรักมั่นคงต่อคนที่รักเรา และรักษาบัญญัติของเราจนถึงนับพันชั่วอายุคน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3035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9B4CE"/>
                </a:solidFill>
                <a:latin typeface="Sarabun"/>
              </a:rPr>
              <a:t>อพยพ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480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7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“ห้ามใช้พระนามพระยาห์เวห์พระเจ้าของเจ้าไปในทางที่ผิด เพราะผู้ที่ใช้พระนามของพระองค์ไปในทางที่ผิดนั้น พระยาห์เวห์จะทรงเอาโทษ</a:t>
            </a:r>
          </a:p>
          <a:p>
            <a:pPr algn="l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8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“จงระลึกถึงวันสะบาโต ถือเป็นวันบริสุทธิ์</a:t>
            </a:r>
          </a:p>
          <a:p>
            <a:pPr algn="l">
              <a:lnSpc>
                <a:spcPct val="113999"/>
              </a:lnSpc>
              <a:spcBef>
                <a:spcPts val="12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9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จงทำงานทั้งสิ้นของเจ้าหกวัน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3035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9B4CE"/>
                </a:solidFill>
                <a:latin typeface="Sarabun"/>
              </a:rPr>
              <a:t>อพยพ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480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10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แต่วันที่เจ็ดนั้นเป็นสะบาโตแด่พระยาห์เวห์พระเจ้าของเจ้า ในวันนั้นห้ามทำงานใดๆไม่ว่าเจ้าเอง หรือบุตรชายบุตรหญิงของเจ้า หรือทาสทาสีของเจ้า หรือสัตว์ใช้งานของเจ้า หรือคนต่างด้าวที่อาศัยอยู่ในประตูเมืองของเจ้า 11เพราะในหกวันพระยาห์เวห์ทรงสร้างฟ้าและแผ่นดิน ทะเล และสรรพสิ่งซึ่งมีอยู่ในที่เหล่านั้น แต่ในวันที่เจ็ดทรงพัก เพราะฉะนั้นพระยาห์เวห์ทรงอวยพรวันสะบาโต และทรงตั้งวันนั้นไว้เป็นวันบริสุทธิ์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3035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9B4CE"/>
                </a:solidFill>
                <a:latin typeface="Sarabun"/>
              </a:rPr>
              <a:t>อพยพ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480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12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“จงให้เกียรติแก่บิดามารดาของเจ้า เพื่ออายุของเจ้าจะได้ยืนยาวบนแผ่นดิน ซึ่งพระยาห์เวห์พระเจ้าของเจ้าประทานแก่เจ้า</a:t>
            </a:r>
          </a:p>
          <a:p>
            <a:pPr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13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“ห้ามฆ่าคน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bl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53035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9B4CE"/>
                </a:solidFill>
                <a:latin typeface="Sarabun"/>
              </a:rPr>
              <a:t>อพยพ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480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14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“ห้ามล่วงประเวณีผัวเมียเขา</a:t>
            </a:r>
          </a:p>
          <a:p>
            <a:pPr algn="l">
              <a:lnSpc>
                <a:spcPct val="115999"/>
              </a:lnSpc>
              <a:spcBef>
                <a:spcPts val="16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15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“ห้ามลักขโมย</a:t>
            </a:r>
          </a:p>
          <a:p>
            <a:pPr algn="l">
              <a:lnSpc>
                <a:spcPct val="115999"/>
              </a:lnSpc>
              <a:spcBef>
                <a:spcPts val="16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16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“ห้ามเป็นพยานเท็จใส่ร้ายเพื่อนบ้าน</a:t>
            </a:r>
          </a:p>
          <a:p>
            <a:pPr algn="l">
              <a:lnSpc>
                <a:spcPct val="115999"/>
              </a:lnSpc>
              <a:spcBef>
                <a:spcPts val="1600"/>
              </a:spcBef>
              <a:spcAft>
                <a:spcPts val="0"/>
              </a:spcAft>
            </a:pPr>
            <a:r>
              <a:rPr sz="3000" b="1" i="0">
                <a:solidFill>
                  <a:srgbClr val="E0A95E"/>
                </a:solidFill>
                <a:latin typeface="Sarabun"/>
              </a:rPr>
              <a:t>17 </a:t>
            </a:r>
            <a:r>
              <a:rPr sz="3000" b="0" i="0">
                <a:solidFill>
                  <a:srgbClr val="F5F1E8"/>
                </a:solidFill>
                <a:latin typeface="Sarabun"/>
              </a:rPr>
              <a:t>“ห้ามโลภบ้านเรือนของเพื่อนบ้าน ห้ามโลภภรรยาของเพื่อนบ้าน หรือทาสทาสีของเขา หรือโค ลาของเขา หรือสิ่งใดๆ ซึ่งเป็นของของเพื่อนบ้าน”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9601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331720"/>
            <a:ext cx="94457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CE92"/>
                </a:solidFill>
                <a:latin typeface="Sarabun"/>
              </a:rPr>
              <a:t>2 เธสะโลนิกา 3:10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46120"/>
            <a:ext cx="926287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F5F1E8"/>
                </a:solidFill>
                <a:latin typeface="Sarabun"/>
              </a:rPr>
              <a:t>แม้เมื่อเราอยู่กับพวกท่าน เราก็ได้กำชับอย่างนี้ว่า </a:t>
            </a:r>
          </a:p>
          <a:p>
            <a:pPr algn="ct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4000" b="1" i="0">
                <a:solidFill>
                  <a:srgbClr val="F0CE92"/>
                </a:solidFill>
                <a:latin typeface="Sarabun"/>
              </a:rPr>
              <a:t>ถ้าใครไม่ยอมทำงาน ก็อย่าให้เขากิน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