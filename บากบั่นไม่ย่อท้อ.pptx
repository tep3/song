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jpeg" ContentType="image/jpeg"/>
  <Override PartName="/ppt/media/hdphoto1.wdp" ContentType="image/vnd.ms-photo"/>
  <Override PartName="/ppt/media/image4.png" ContentType="image/png"/>
  <Override PartName="/ppt/media/image5.png" ContentType="image/png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rPr>
              <a:t>Click to edit Master title </a:t>
            </a:r>
            <a:r>
              <a:rPr b="0" lang="en-US" sz="8000" spc="-5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rPr>
              <a:t>style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6EB23E-61EE-4829-8416-8BED6B499FCC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Outline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Outline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Outline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4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5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6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055CA4-8029-43C5-83F8-6A65AA2C0AC3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1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2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724960" y="414720"/>
            <a:ext cx="2628720" cy="57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414720"/>
            <a:ext cx="7733880" cy="57571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7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8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9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70190B-0F36-425B-9959-1A3C3745BF87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1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0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1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2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E2303E-C845-4F5A-B50C-0FF4F863C826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9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0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201" strike="noStrike" u="none" cap="all">
                <a:solidFill>
                  <a:schemeClr val="dk2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13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14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15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211A1E6-B9DC-4495-B9F2-1AF816BA62BA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7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0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1792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16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17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18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018763-79D9-4FFA-B57E-8E1FA004654B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9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09728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trike="noStrike" u="none" cap="all">
                <a:solidFill>
                  <a:schemeClr val="dk2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09728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21792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trike="noStrike" u="none" cap="all">
                <a:solidFill>
                  <a:schemeClr val="dk2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21792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dt" idx="19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ftr" idx="20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8"/>
          <p:cNvSpPr>
            <a:spLocks noGrp="1"/>
          </p:cNvSpPr>
          <p:nvPr>
            <p:ph type="sldNum" idx="21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C6D851-DA16-4081-A076-EB6BCDDF04C5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0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dt" idx="22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ftr" idx="23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sldNum" idx="24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5E6A01-94BD-4B4C-BF2E-2F0C20FD5B80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7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78" name="Rectangl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dt" idx="25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ftr" idx="26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27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467050-7D5B-43AB-B81C-EC52969AFB77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86" name="Rectangle 7"/>
          <p:cNvSpPr/>
          <p:nvPr/>
        </p:nvSpPr>
        <p:spPr>
          <a:xfrm>
            <a:off x="0" y="0"/>
            <a:ext cx="405036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8"/>
          <p:cNvSpPr/>
          <p:nvPr/>
        </p:nvSpPr>
        <p:spPr>
          <a:xfrm>
            <a:off x="4039920" y="0"/>
            <a:ext cx="6372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1" strike="noStrike" u="none">
                <a:solidFill>
                  <a:srgbClr val="ffffff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5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dt" idx="28"/>
          </p:nvPr>
        </p:nvSpPr>
        <p:spPr>
          <a:xfrm>
            <a:off x="465480" y="6459840"/>
            <a:ext cx="261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ftr" idx="29"/>
          </p:nvPr>
        </p:nvSpPr>
        <p:spPr>
          <a:xfrm>
            <a:off x="4800600" y="6459840"/>
            <a:ext cx="4647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sldNum" idx="30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024F49-6F2A-40DB-AF22-3F825C9BF54A}" type="slidenum">
              <a:rPr b="0" lang="en-US" sz="105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6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97" name="Rectangle 7"/>
          <p:cNvSpPr/>
          <p:nvPr/>
        </p:nvSpPr>
        <p:spPr>
          <a:xfrm>
            <a:off x="0" y="4952880"/>
            <a:ext cx="12188520" cy="1904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8"/>
          <p:cNvSpPr/>
          <p:nvPr/>
        </p:nvSpPr>
        <p:spPr>
          <a:xfrm>
            <a:off x="0" y="491508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276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1" strike="noStrike" u="none">
                <a:solidFill>
                  <a:srgbClr val="ffffff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491472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457200" rIns="90000" tIns="4572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icon to add picture</a:t>
            </a:r>
            <a:endParaRPr b="0" lang="en-US" sz="3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1097280" y="5906880"/>
            <a:ext cx="10112760" cy="59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rmAutofit/>
          </a:bodyPr>
          <a:p>
            <a:pPr indent="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5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dt" idx="3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ftr" idx="3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6"/>
          <p:cNvSpPr>
            <a:spLocks noGrp="1"/>
          </p:cNvSpPr>
          <p:nvPr>
            <p:ph type="sldNum" idx="3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5C0562-047D-424F-86F1-D34FE268AC62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microsoft.com/office/2007/relationships/hdphoto" Target="../media/hdphoto1.wdp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76560" y="1122480"/>
            <a:ext cx="1147788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1" lang="th-TH" sz="9600" spc="3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attaya"/>
                <a:cs typeface="Pattaya"/>
              </a:rPr>
              <a:t>บากบั่นไม่ย่อท้อ</a:t>
            </a:r>
            <a:br>
              <a:rPr sz="9600"/>
            </a:br>
            <a:r>
              <a:rPr b="1" lang="th-TH" sz="9600" spc="3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attaya"/>
                <a:cs typeface="Pattaya"/>
              </a:rPr>
              <a:t>รางวัลรออยู่ข้างหน้า </a:t>
            </a:r>
            <a:endParaRPr b="0" lang="en-US" sz="9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ubTitle"/>
          </p:nvPr>
        </p:nvSpPr>
        <p:spPr>
          <a:xfrm>
            <a:off x="1100160" y="445572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4400" spc="201" strike="noStrike" u="none" cap="all">
                <a:solidFill>
                  <a:schemeClr val="dk2"/>
                </a:solidFill>
                <a:effectLst/>
                <a:uFillTx/>
                <a:latin typeface="Kunlasatri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5200" spc="201" strike="noStrike" u="none" cap="all">
                <a:solidFill>
                  <a:schemeClr val="dk2"/>
                </a:solidFill>
                <a:effectLst/>
                <a:uFillTx/>
                <a:latin typeface="Kunlasatri"/>
              </a:rPr>
              <a:t>2 </a:t>
            </a:r>
            <a:r>
              <a:rPr b="1" lang="th-TH" sz="5200" spc="201" strike="noStrike" u="none" cap="all">
                <a:solidFill>
                  <a:schemeClr val="dk2"/>
                </a:solidFill>
                <a:effectLst/>
                <a:uFillTx/>
                <a:latin typeface="Kunlasatri"/>
                <a:cs typeface="Kunlasatri"/>
              </a:rPr>
              <a:t>โครินทร์ บทที่ </a:t>
            </a:r>
            <a:r>
              <a:rPr b="1" lang="en-US" sz="5200" spc="201" strike="noStrike" u="none" cap="all">
                <a:solidFill>
                  <a:schemeClr val="dk2"/>
                </a:solidFill>
                <a:effectLst/>
                <a:uFillTx/>
                <a:latin typeface="Kunlasatri"/>
              </a:rPr>
              <a:t>4 </a:t>
            </a:r>
            <a:endParaRPr b="0" lang="en-US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4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amount="-50000" bright="-5000" colorTemp="11500"/>
                    </a14:imgEffect>
                  </a14:imgLayer>
                </a14:imgProps>
              </a:ext>
            </a:extLst>
          </a:blip>
          <a:stretch/>
        </p:blipFill>
        <p:spPr>
          <a:xfrm>
            <a:off x="7461360" y="4096440"/>
            <a:ext cx="3630240" cy="225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1500">
        <p:split dir="out" orient="vert"/>
      </p:transition>
    </mc:Choice>
    <mc:Fallback>
      <p:transition spd="slow">
        <p:split dir="out" orient="vert"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/>
          </p:nvPr>
        </p:nvSpPr>
        <p:spPr>
          <a:xfrm>
            <a:off x="595080" y="286560"/>
            <a:ext cx="11596320" cy="4555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25000" lnSpcReduction="19999"/>
          </a:bodyPr>
          <a:p>
            <a:pPr marL="91440" indent="-91440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24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อัครฑูตเปาโล </a:t>
            </a:r>
            <a:endParaRPr b="0" lang="en-US" sz="24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24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ได้ปรนนิบัติรับใช้</a:t>
            </a:r>
            <a:endParaRPr b="0" lang="en-US" sz="24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24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พระคริสต์ </a:t>
            </a:r>
            <a:endParaRPr b="0" lang="en-US" sz="24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24000" spc="3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เป็นเวลายาวนาน</a:t>
            </a:r>
            <a:endParaRPr b="0" lang="en-US" sz="24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24000" spc="3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หลายสิบปี</a:t>
            </a:r>
            <a:endParaRPr b="0" lang="en-US" sz="24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pic>
        <p:nvPicPr>
          <p:cNvPr id="109" name="Picture 4" descr=""/>
          <p:cNvPicPr/>
          <p:nvPr/>
        </p:nvPicPr>
        <p:blipFill>
          <a:blip r:embed="rId1"/>
          <a:stretch/>
        </p:blipFill>
        <p:spPr>
          <a:xfrm>
            <a:off x="6795720" y="286560"/>
            <a:ext cx="4436640" cy="535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Box 5"/>
          <p:cNvSpPr/>
          <p:nvPr/>
        </p:nvSpPr>
        <p:spPr>
          <a:xfrm>
            <a:off x="1681920" y="6314760"/>
            <a:ext cx="909072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th-TH" sz="3600" strike="noStrike" u="none">
                <a:solidFill>
                  <a:schemeClr val="lt1"/>
                </a:solidFill>
                <a:effectLst/>
                <a:uFillTx/>
                <a:latin typeface="Pattaya"/>
                <a:cs typeface="Pattaya"/>
              </a:rPr>
              <a:t>บากบั่นไม่ย่อท้อ รางวัลรออยู่ข้างหน้า   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Pattaya"/>
              </a:rPr>
              <a:t>2  </a:t>
            </a:r>
            <a:r>
              <a:rPr b="0" lang="th-TH" sz="2400" strike="noStrike" u="none">
                <a:solidFill>
                  <a:schemeClr val="lt1"/>
                </a:solidFill>
                <a:effectLst/>
                <a:uFillTx/>
                <a:latin typeface="Pattaya"/>
                <a:cs typeface="Pattaya"/>
              </a:rPr>
              <a:t>โครินทร์ 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Pattaya"/>
              </a:rPr>
              <a:t> 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Pattaya"/>
              </a:rPr>
              <a:t>4  :  1 6 – 1 8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title"/>
          </p:nvPr>
        </p:nvSpPr>
        <p:spPr>
          <a:xfrm rot="10800000">
            <a:off x="1097280" y="-516960"/>
            <a:ext cx="10058040" cy="80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0" y="0"/>
            <a:ext cx="6464880" cy="4555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250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th-TH" sz="21600" spc="3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ในการปรนนิบัติรับใช้</a:t>
            </a:r>
            <a:endParaRPr b="0" lang="en-US" sz="2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th-TH" sz="21600" spc="3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ของท่าน ท่านเจอกับ</a:t>
            </a:r>
            <a:endParaRPr b="0" lang="en-US" sz="2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th-TH" sz="21600" spc="3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การข่มเหง พบกับ</a:t>
            </a:r>
            <a:endParaRPr b="0" lang="en-US" sz="2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th-TH" sz="21600" spc="3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ความยากลำบาก</a:t>
            </a:r>
            <a:endParaRPr b="0" lang="en-US" sz="2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th-TH" sz="21600" spc="3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ต่างต่างมากมาย</a:t>
            </a:r>
            <a:endParaRPr b="0" lang="en-US" sz="2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pic>
        <p:nvPicPr>
          <p:cNvPr id="114" name="Picture 4" descr=""/>
          <p:cNvPicPr/>
          <p:nvPr/>
        </p:nvPicPr>
        <p:blipFill>
          <a:blip r:embed="rId1"/>
          <a:stretch/>
        </p:blipFill>
        <p:spPr>
          <a:xfrm>
            <a:off x="6572880" y="629280"/>
            <a:ext cx="5416200" cy="399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Box 5"/>
          <p:cNvSpPr/>
          <p:nvPr/>
        </p:nvSpPr>
        <p:spPr>
          <a:xfrm>
            <a:off x="1881000" y="6314760"/>
            <a:ext cx="917712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th-TH" sz="3600" strike="noStrike" u="none">
                <a:solidFill>
                  <a:schemeClr val="lt1"/>
                </a:solidFill>
                <a:effectLst/>
                <a:uFillTx/>
                <a:latin typeface="Pattaya"/>
                <a:cs typeface="Pattaya"/>
              </a:rPr>
              <a:t>บากบั่นไม่ย่อท้อ รางวัลรออยู่ข้างหน้า   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Pattaya"/>
              </a:rPr>
              <a:t>2  </a:t>
            </a:r>
            <a:r>
              <a:rPr b="0" lang="th-TH" sz="2400" strike="noStrike" u="none">
                <a:solidFill>
                  <a:schemeClr val="lt1"/>
                </a:solidFill>
                <a:effectLst/>
                <a:uFillTx/>
                <a:latin typeface="Pattaya"/>
                <a:cs typeface="Pattaya"/>
              </a:rPr>
              <a:t>โครินทร์ 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Pattaya"/>
              </a:rPr>
              <a:t> 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Pattaya"/>
              </a:rPr>
              <a:t>4  :  1 6 – 1 8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3"/>
          <p:cNvSpPr/>
          <p:nvPr/>
        </p:nvSpPr>
        <p:spPr>
          <a:xfrm>
            <a:off x="-168480" y="0"/>
            <a:ext cx="12360240" cy="68576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633907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-622080" y="466560"/>
            <a:ext cx="12898080" cy="4555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25000" lnSpcReduction="19999"/>
          </a:bodyPr>
          <a:p>
            <a:pPr marL="91440" indent="-91440" algn="ctr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21600" spc="-31" strike="noStrike" u="none">
                <a:solidFill>
                  <a:schemeClr val="lt1"/>
                </a:solidFill>
                <a:effectLst/>
                <a:uFillTx/>
                <a:latin typeface="Pattaya"/>
                <a:cs typeface="Pattaya"/>
              </a:rPr>
              <a:t>ความยากลำบากบางครั้งมาจากนอกคริสตจักร</a:t>
            </a:r>
            <a:endParaRPr b="0" lang="en-US" sz="2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21600" spc="-31" strike="noStrike" u="none">
                <a:solidFill>
                  <a:schemeClr val="lt1"/>
                </a:solidFill>
                <a:effectLst/>
                <a:uFillTx/>
                <a:latin typeface="Pattaya"/>
                <a:cs typeface="Pattaya"/>
              </a:rPr>
              <a:t>และความยากลำบากหลายต่อหลายครั้ง</a:t>
            </a:r>
            <a:endParaRPr b="0" lang="en-US" sz="2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21600" spc="-31" strike="noStrike" u="none">
                <a:solidFill>
                  <a:schemeClr val="lt1"/>
                </a:solidFill>
                <a:effectLst/>
                <a:uFillTx/>
                <a:latin typeface="Pattaya"/>
                <a:cs typeface="Pattaya"/>
              </a:rPr>
              <a:t>ที่บีบคั้นหัวใจของท่านเป็นอย่างมาก</a:t>
            </a:r>
            <a:endParaRPr b="0" lang="en-US" sz="2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21600" spc="-31" strike="noStrike" u="none">
                <a:solidFill>
                  <a:schemeClr val="lt1"/>
                </a:solidFill>
                <a:effectLst/>
                <a:uFillTx/>
                <a:latin typeface="Pattaya"/>
                <a:cs typeface="Pattaya"/>
              </a:rPr>
              <a:t>เกิดจากท่ามกลางประชากรของพระคริสต์ </a:t>
            </a:r>
            <a:endParaRPr b="0" lang="en-US" sz="2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21600" spc="-31" strike="noStrike" u="none">
                <a:solidFill>
                  <a:schemeClr val="lt1"/>
                </a:solidFill>
                <a:effectLst/>
                <a:uFillTx/>
                <a:latin typeface="Pattaya"/>
                <a:cs typeface="Pattaya"/>
              </a:rPr>
              <a:t>คนที่อยู่ในคริสตจักรของท่าน</a:t>
            </a:r>
            <a:endParaRPr b="0" lang="en-US" sz="2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21600" spc="-31" strike="noStrike" u="none">
                <a:solidFill>
                  <a:schemeClr val="lt1"/>
                </a:solidFill>
                <a:effectLst/>
                <a:uFillTx/>
                <a:latin typeface="Pattaya"/>
                <a:cs typeface="Pattaya"/>
              </a:rPr>
              <a:t>แม้กระนั้น เปาโลก็ยังบากบั่นในการปรนนิบัติ </a:t>
            </a:r>
            <a:endParaRPr b="0" lang="en-US" sz="2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1500">
        <p:split dir="out" orient="vert"/>
      </p:transition>
    </mc:Choice>
    <mc:Fallback>
      <p:transition spd="slow">
        <p:split dir="out" orient="vert"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756720" y="-165240"/>
            <a:ext cx="102880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0" lang="th-TH" sz="5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ไม่ว่าอุปสรรค์จะมีมากเพียงใดก็แล้วแต่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412920" y="1285560"/>
            <a:ext cx="10631880" cy="4555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4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อะไรคือท่าทีของเปาโล </a:t>
            </a:r>
            <a:endParaRPr b="0" lang="en-US" sz="4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4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ท่ามกลางความยากลำบากต่างต่างที่เกิดขึ้น</a:t>
            </a:r>
            <a:endParaRPr b="0" lang="en-US" sz="4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pic>
        <p:nvPicPr>
          <p:cNvPr id="121" name="Picture 4" descr=""/>
          <p:cNvPicPr/>
          <p:nvPr/>
        </p:nvPicPr>
        <p:blipFill>
          <a:blip r:embed="rId1"/>
          <a:stretch/>
        </p:blipFill>
        <p:spPr>
          <a:xfrm>
            <a:off x="5792040" y="2908440"/>
            <a:ext cx="4962960" cy="335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Box 6"/>
          <p:cNvSpPr/>
          <p:nvPr/>
        </p:nvSpPr>
        <p:spPr>
          <a:xfrm>
            <a:off x="-594000" y="2842560"/>
            <a:ext cx="6195600" cy="25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th-TH" sz="4000" strike="noStrike" u="none">
                <a:solidFill>
                  <a:schemeClr val="dk1"/>
                </a:solidFill>
                <a:effectLst/>
                <a:uFillTx/>
                <a:latin typeface="Pattaya"/>
                <a:cs typeface="Pattaya"/>
              </a:rPr>
              <a:t>หนังสือ </a:t>
            </a: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attaya"/>
              </a:rPr>
              <a:t>2 </a:t>
            </a:r>
            <a:r>
              <a:rPr b="0" lang="th-TH" sz="4000" strike="noStrike" u="none">
                <a:solidFill>
                  <a:schemeClr val="dk1"/>
                </a:solidFill>
                <a:effectLst/>
                <a:uFillTx/>
                <a:latin typeface="Pattaya"/>
                <a:cs typeface="Pattaya"/>
              </a:rPr>
              <a:t>โครินทร์ บทที่ </a:t>
            </a: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attaya"/>
              </a:rPr>
              <a:t>4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attaya"/>
              </a:rPr>
              <a:t> ได้พูดถึงสาเหตุหลายอย่าง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attaya"/>
              </a:rPr>
              <a:t> ที่ทำให้เปาโล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th-TH" sz="4000" strike="noStrike" u="none">
                <a:solidFill>
                  <a:schemeClr val="dk1"/>
                </a:solidFill>
                <a:effectLst/>
                <a:uFillTx/>
                <a:latin typeface="Pattaya"/>
                <a:cs typeface="Pattaya"/>
              </a:rPr>
              <a:t>ยังคงบากบั่นไปข้างหน้า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88600" y="248040"/>
            <a:ext cx="10288080" cy="112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500" lnSpcReduction="19999"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0" lang="en-US" sz="4400" spc="-51" strike="noStrike" u="none">
                <a:solidFill>
                  <a:srgbClr val="2a6099"/>
                </a:solidFill>
                <a:effectLst/>
                <a:uFillTx/>
                <a:latin typeface="Pattaya"/>
              </a:rPr>
              <a:t>2 </a:t>
            </a:r>
            <a:r>
              <a:rPr b="0" lang="th-TH" sz="4400" spc="-51" strike="noStrike" u="none">
                <a:solidFill>
                  <a:srgbClr val="2a6099"/>
                </a:solidFill>
                <a:effectLst/>
                <a:uFillTx/>
                <a:latin typeface="Pattaya"/>
                <a:cs typeface="Pattaya"/>
              </a:rPr>
              <a:t>โครินทร์ </a:t>
            </a:r>
            <a:r>
              <a:rPr b="0" lang="en-US" sz="4400" spc="-51" strike="noStrike" u="none">
                <a:solidFill>
                  <a:srgbClr val="2a6099"/>
                </a:solidFill>
                <a:effectLst/>
                <a:uFillTx/>
                <a:latin typeface="Pattaya"/>
              </a:rPr>
              <a:t>4 : 16-18</a:t>
            </a:r>
            <a:br>
              <a:rPr sz="5400"/>
            </a:b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-77040" y="1143000"/>
            <a:ext cx="12163680" cy="519192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5400" strike="noStrike" u="none">
                <a:solidFill>
                  <a:srgbClr val="b2b2b2"/>
                </a:solidFill>
                <a:effectLst/>
                <a:uFillTx/>
                <a:latin typeface="Pattaya"/>
              </a:rPr>
              <a:t>16</a:t>
            </a:r>
            <a:r>
              <a:rPr b="0" lang="en-US" sz="5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</a:rPr>
              <a:t> </a:t>
            </a:r>
            <a:r>
              <a:rPr b="0" lang="th-TH" sz="5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ฉะนั้นเราจึงไม่ย่อท้อ ถึงแม้ว่าสภาพภายนอกของเรากำลังทรุดโทรมไป แต่สภาพภายในนั้นก็ได้รับการเปลี่ยนใหม่ทุกๆ วัน </a:t>
            </a:r>
            <a:endParaRPr b="0" lang="en-US" sz="5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5400" strike="noStrike" u="none">
                <a:solidFill>
                  <a:srgbClr val="b2b2b2"/>
                </a:solidFill>
                <a:effectLst/>
                <a:uFillTx/>
                <a:latin typeface="Pattaya"/>
              </a:rPr>
              <a:t>17</a:t>
            </a:r>
            <a:r>
              <a:rPr b="0" lang="th-TH" sz="5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เพราะว่าความยากลำบากชั่วคราวและเล็กน้อยของเรา จะทำให้เรามีศักดิ์ศรีนิรันดร์มากมายอย่างไม่มีที่เปรียบ</a:t>
            </a:r>
            <a:endParaRPr b="0" lang="en-US" sz="5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3"/>
          <p:cNvSpPr/>
          <p:nvPr/>
        </p:nvSpPr>
        <p:spPr>
          <a:xfrm>
            <a:off x="0" y="0"/>
            <a:ext cx="12191760" cy="6715800"/>
          </a:xfrm>
          <a:prstGeom prst="rect">
            <a:avLst/>
          </a:prstGeom>
          <a:solidFill>
            <a:srgbClr val="ffffff"/>
          </a:solidFill>
          <a:ln>
            <a:solidFill>
              <a:srgbClr val="e4831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588600" y="644040"/>
            <a:ext cx="102880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5000" lnSpcReduction="9999"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0" lang="en-US" sz="4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</a:rPr>
              <a:t> </a:t>
            </a:r>
            <a:br>
              <a:rPr sz="5400"/>
            </a:b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227520" y="520200"/>
            <a:ext cx="11375640" cy="4555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6000" strike="noStrike" u="none">
                <a:solidFill>
                  <a:srgbClr val="b2b2b2"/>
                </a:solidFill>
                <a:effectLst/>
                <a:uFillTx/>
                <a:latin typeface="Pattaya"/>
              </a:rPr>
              <a:t>18 </a:t>
            </a:r>
            <a:r>
              <a:rPr b="0" lang="th-TH" sz="6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เราไม่ได้เอาใจใส่ในสิ่งที่มองเห็น แต่เอาใจใส่ในสิ่งที่มองไม่เห็น เพราะว่าสิ่งที่มองเห็นนั้นไม่ยั่งยืน แต่สิ่งที่มองไม่เห็นนั้นถาวรนิรันดร์</a:t>
            </a:r>
            <a:endParaRPr b="0" lang="en-US" sz="6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3"/>
          <p:cNvSpPr/>
          <p:nvPr/>
        </p:nvSpPr>
        <p:spPr>
          <a:xfrm>
            <a:off x="0" y="0"/>
            <a:ext cx="12191760" cy="6715800"/>
          </a:xfrm>
          <a:prstGeom prst="rect">
            <a:avLst/>
          </a:prstGeom>
          <a:solidFill>
            <a:srgbClr val="ffffff"/>
          </a:solidFill>
          <a:ln>
            <a:solidFill>
              <a:srgbClr val="e4831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88600" y="644040"/>
            <a:ext cx="102880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5000" lnSpcReduction="9999"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0" lang="en-US" sz="4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</a:rPr>
              <a:t> </a:t>
            </a:r>
            <a:br>
              <a:rPr sz="5400"/>
            </a:b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84240" y="940680"/>
            <a:ext cx="12023640" cy="47872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7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พระธรรมตอนนี้สะท้อนให้เราเห็นถึง</a:t>
            </a:r>
            <a:r>
              <a:rPr b="0" lang="th-TH" sz="7200" strike="noStrike" u="none">
                <a:solidFill>
                  <a:schemeClr val="accent2"/>
                </a:solidFill>
                <a:effectLst/>
                <a:uFillTx/>
                <a:latin typeface="Pattaya"/>
                <a:cs typeface="Pattaya"/>
              </a:rPr>
              <a:t>ท่าทีของเปาโลที่ท่านมี</a:t>
            </a:r>
            <a:endParaRPr b="0" lang="en-US" sz="7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7200" strike="noStrike" u="none">
                <a:solidFill>
                  <a:schemeClr val="accent2"/>
                </a:solidFill>
                <a:effectLst/>
                <a:uFillTx/>
                <a:latin typeface="Pattaya"/>
                <a:cs typeface="Pattaya"/>
              </a:rPr>
              <a:t>ขณะเวลาเผชิญความยากลำบาก</a:t>
            </a:r>
            <a:r>
              <a:rPr b="0" lang="en-US" sz="7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</a:rPr>
              <a:t> ซึ่งเป็นบทเรียนสอน</a:t>
            </a:r>
            <a:endParaRPr b="0" lang="en-US" sz="7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69760" y="76320"/>
            <a:ext cx="10452240" cy="178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85000"/>
              </a:lnSpc>
              <a:buNone/>
            </a:pPr>
            <a:r>
              <a:rPr b="0" lang="th-TH" sz="6000" spc="-51" strike="noStrike" u="none">
                <a:solidFill>
                  <a:schemeClr val="accent2"/>
                </a:solidFill>
                <a:effectLst/>
                <a:uFillTx/>
                <a:latin typeface="Pattaya"/>
                <a:cs typeface="Pattaya"/>
              </a:rPr>
              <a:t>ความยากลำบากที่เปาโลประสบ </a:t>
            </a:r>
            <a:br>
              <a:rPr sz="4800"/>
            </a:br>
            <a:r>
              <a:rPr b="0" lang="en-US" sz="4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</a:rPr>
              <a:t>2 </a:t>
            </a:r>
            <a:r>
              <a:rPr b="0" lang="th-TH" sz="4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โครินธ์ </a:t>
            </a:r>
            <a:r>
              <a:rPr b="0" lang="en-US" sz="4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</a:rPr>
              <a:t>4:7-12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2" name="Content Placeholder 4" descr=""/>
          <p:cNvPicPr/>
          <p:nvPr/>
        </p:nvPicPr>
        <p:blipFill>
          <a:blip r:embed="rId1"/>
          <a:stretch/>
        </p:blipFill>
        <p:spPr>
          <a:xfrm>
            <a:off x="3731760" y="2405880"/>
            <a:ext cx="5019840" cy="3638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34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3"/>
          <p:cNvSpPr/>
          <p:nvPr/>
        </p:nvSpPr>
        <p:spPr>
          <a:xfrm>
            <a:off x="0" y="0"/>
            <a:ext cx="12191760" cy="6715800"/>
          </a:xfrm>
          <a:prstGeom prst="rect">
            <a:avLst/>
          </a:prstGeom>
          <a:solidFill>
            <a:srgbClr val="ffffff"/>
          </a:solidFill>
          <a:ln>
            <a:solidFill>
              <a:srgbClr val="e4831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88600" y="644040"/>
            <a:ext cx="102880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5000" lnSpcReduction="9999"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0" lang="en-US" sz="4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</a:rPr>
              <a:t> </a:t>
            </a:r>
            <a:br>
              <a:rPr sz="5400"/>
            </a:b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227520" y="520200"/>
            <a:ext cx="11659680" cy="54234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6000" strike="noStrike" u="none">
                <a:solidFill>
                  <a:srgbClr val="777a7b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7  </a:t>
            </a:r>
            <a:r>
              <a:rPr b="0" lang="th-TH" sz="6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แต่เรามีของล้ำค่านี้อยู่ในภาชนะดิน เพื่อให้เห็นว่า ฤทธิ์เดชอันเลิศนั้นเป็นของพระเจ้า ไม่ได้มาจากตัวเราเอง</a:t>
            </a:r>
            <a:r>
              <a:rPr b="0" lang="en-US" sz="60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 </a:t>
            </a:r>
            <a:endParaRPr b="0" lang="en-US" sz="6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6000" strike="noStrike" u="none">
                <a:solidFill>
                  <a:srgbClr val="777a7b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8  </a:t>
            </a:r>
            <a:r>
              <a:rPr b="0" lang="th-TH" sz="6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เราเผชิญความยากลำบากรอบด้าน แต่ก็ไม่ถูกบดขยี้ เราสับสน</a:t>
            </a:r>
            <a:endParaRPr b="0" lang="en-US" sz="6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6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แต่ก็ไม่หมดหวัง</a:t>
            </a:r>
            <a:r>
              <a:rPr b="0" lang="en-US" sz="60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 </a:t>
            </a:r>
            <a:endParaRPr b="0" lang="en-US" sz="6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3"/>
          <p:cNvSpPr/>
          <p:nvPr/>
        </p:nvSpPr>
        <p:spPr>
          <a:xfrm>
            <a:off x="0" y="0"/>
            <a:ext cx="12191760" cy="6715800"/>
          </a:xfrm>
          <a:prstGeom prst="rect">
            <a:avLst/>
          </a:prstGeom>
          <a:solidFill>
            <a:srgbClr val="ffffff"/>
          </a:solidFill>
          <a:ln>
            <a:solidFill>
              <a:srgbClr val="e4831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88600" y="644040"/>
            <a:ext cx="102880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5000" lnSpcReduction="9999"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0" lang="en-US" sz="4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</a:rPr>
              <a:t> </a:t>
            </a:r>
            <a:br>
              <a:rPr sz="5400"/>
            </a:b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227520" y="520200"/>
            <a:ext cx="11375640" cy="4555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 anchorCtr="1">
            <a:noAutofit/>
          </a:bodyPr>
          <a:p>
            <a:pPr marL="91440" indent="-9144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6000" strike="noStrike" u="none">
                <a:solidFill>
                  <a:srgbClr val="777a7b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9   </a:t>
            </a:r>
            <a:r>
              <a:rPr b="0" lang="th-TH" sz="60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เราถูกข่มเหงแต่ก็ไม่ถูกทอดทิ้ง เราถูกตีให้ล้มลง แต่ก็ไม่ถูกทำลาย</a:t>
            </a:r>
            <a:endParaRPr b="0" lang="en-US" sz="6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6000" strike="noStrike" u="none">
                <a:solidFill>
                  <a:srgbClr val="777a7b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10   </a:t>
            </a:r>
            <a:r>
              <a:rPr b="0" lang="th-TH" sz="6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เราแบกความตายของพระเยซูไว้ในร่างกายเสมอ เพื่อว่าชีวิตของพระเยซูจะปรากฏในร่างกายของเราด้วย</a:t>
            </a:r>
            <a:r>
              <a:rPr b="0" lang="en-US" sz="60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 </a:t>
            </a:r>
            <a:endParaRPr b="0" lang="en-US" sz="6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3"/>
          <p:cNvSpPr/>
          <p:nvPr/>
        </p:nvSpPr>
        <p:spPr>
          <a:xfrm>
            <a:off x="0" y="0"/>
            <a:ext cx="12191760" cy="6715800"/>
          </a:xfrm>
          <a:prstGeom prst="rect">
            <a:avLst/>
          </a:prstGeom>
          <a:solidFill>
            <a:srgbClr val="ffffff"/>
          </a:solidFill>
          <a:ln>
            <a:solidFill>
              <a:srgbClr val="e4831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88600" y="644040"/>
            <a:ext cx="102880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5000" lnSpcReduction="9999"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0" lang="en-US" sz="4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</a:rPr>
              <a:t> </a:t>
            </a:r>
            <a:br>
              <a:rPr sz="5400"/>
            </a:b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227520" y="520200"/>
            <a:ext cx="11459520" cy="4555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 anchorCtr="1">
            <a:noAutofit/>
          </a:bodyPr>
          <a:p>
            <a:pPr marL="91440" indent="-9144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6000" strike="noStrike" u="none">
                <a:solidFill>
                  <a:srgbClr val="777a7b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11  </a:t>
            </a:r>
            <a:r>
              <a:rPr b="0" lang="th-TH" sz="6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เพราะว่าเราที่มีชีวิตอยู่นั้น ถูกมอบไว้กับความตายอยู่เสมอเพราะเห็นแก่พระเยซู เพื่อชีวิตของพระเยซูจะปรากฏในร่างกายเนื้อหนังที่ต้องตายของเรา</a:t>
            </a:r>
            <a:r>
              <a:rPr b="0" lang="en-US" sz="60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 </a:t>
            </a:r>
            <a:endParaRPr b="0" lang="en-US" sz="6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88600" y="644040"/>
            <a:ext cx="102880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5000" lnSpcReduction="9999"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0" lang="en-US" sz="4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</a:rPr>
              <a:t> </a:t>
            </a:r>
            <a:br>
              <a:rPr sz="5400"/>
            </a:b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227520" y="520200"/>
            <a:ext cx="11375640" cy="4555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 anchorCtr="1">
            <a:noAutofit/>
          </a:bodyPr>
          <a:p>
            <a:pPr marL="91440" indent="-9144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6600" strike="noStrike" u="none">
                <a:solidFill>
                  <a:srgbClr val="777a7b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12  </a:t>
            </a:r>
            <a:r>
              <a:rPr b="0" lang="th-TH" sz="66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ฉะนั้นความตายจึงกำลังทำการอยู่ในเรา แต่ชีวิตกำลังทำการอยู่ในท่านทั้งหลาย</a:t>
            </a:r>
            <a:endParaRPr b="0" lang="en-US" sz="6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5"/>
          <p:cNvSpPr/>
          <p:nvPr/>
        </p:nvSpPr>
        <p:spPr>
          <a:xfrm>
            <a:off x="6858000" y="4592160"/>
            <a:ext cx="499716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4400" strike="noStrike" u="none">
                <a:solidFill>
                  <a:srgbClr val="5983b0"/>
                </a:solidFill>
                <a:effectLst/>
                <a:uFillTx/>
                <a:latin typeface="Pattaya"/>
              </a:rPr>
              <a:t>2 </a:t>
            </a:r>
            <a:r>
              <a:rPr b="0" lang="th-TH" sz="4400" strike="noStrike" u="none">
                <a:solidFill>
                  <a:srgbClr val="5983b0"/>
                </a:solidFill>
                <a:effectLst/>
                <a:uFillTx/>
                <a:latin typeface="Pattaya"/>
                <a:cs typeface="Pattaya"/>
              </a:rPr>
              <a:t>โครินธ์ </a:t>
            </a:r>
            <a:r>
              <a:rPr b="0" lang="en-US" sz="4400" strike="noStrike" u="none">
                <a:solidFill>
                  <a:srgbClr val="5983b0"/>
                </a:solidFill>
                <a:effectLst/>
                <a:uFillTx/>
                <a:latin typeface="Pattaya"/>
              </a:rPr>
              <a:t>4:7-12</a:t>
            </a:r>
            <a:endParaRPr b="0" lang="en-US" sz="4400" strike="noStrike" u="none">
              <a:solidFill>
                <a:srgbClr val="5983b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69760" y="76320"/>
            <a:ext cx="10452240" cy="178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85000"/>
              </a:lnSpc>
              <a:buNone/>
            </a:pPr>
            <a:r>
              <a:rPr b="0" lang="th-TH" sz="6000" spc="-51" strike="noStrike" u="none">
                <a:solidFill>
                  <a:schemeClr val="accent2"/>
                </a:solidFill>
                <a:effectLst/>
                <a:uFillTx/>
                <a:latin typeface="Pattaya"/>
                <a:cs typeface="Pattaya"/>
              </a:rPr>
              <a:t>ความยากลำบากที่เปาโลประสบ </a:t>
            </a:r>
            <a:br>
              <a:rPr sz="4800"/>
            </a:br>
            <a:r>
              <a:rPr b="0" lang="en-US" sz="4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</a:rPr>
              <a:t> </a:t>
            </a:r>
            <a:r>
              <a:rPr b="0" lang="en-US" sz="4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</a:rPr>
              <a:t>2  </a:t>
            </a:r>
            <a:r>
              <a:rPr b="0" lang="th-TH" sz="4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  <a:cs typeface="Pattaya"/>
              </a:rPr>
              <a:t>โครินธ์ </a:t>
            </a:r>
            <a:r>
              <a:rPr b="0" lang="en-US" sz="4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</a:rPr>
              <a:t>11 : 23 - 27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6" name="Content Placeholder 4" descr=""/>
          <p:cNvPicPr/>
          <p:nvPr/>
        </p:nvPicPr>
        <p:blipFill>
          <a:blip r:embed="rId1"/>
          <a:stretch/>
        </p:blipFill>
        <p:spPr>
          <a:xfrm>
            <a:off x="3436920" y="1955160"/>
            <a:ext cx="5738400" cy="4159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3"/>
          <p:cNvSpPr/>
          <p:nvPr/>
        </p:nvSpPr>
        <p:spPr>
          <a:xfrm>
            <a:off x="0" y="0"/>
            <a:ext cx="12191760" cy="6715800"/>
          </a:xfrm>
          <a:prstGeom prst="rect">
            <a:avLst/>
          </a:prstGeom>
          <a:solidFill>
            <a:srgbClr val="ffffff"/>
          </a:solidFill>
          <a:ln>
            <a:solidFill>
              <a:srgbClr val="e4831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88600" y="644040"/>
            <a:ext cx="102880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5000" lnSpcReduction="9999"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0" lang="en-US" sz="4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</a:rPr>
              <a:t> </a:t>
            </a:r>
            <a:br>
              <a:rPr sz="5400"/>
            </a:b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262800" y="483480"/>
            <a:ext cx="11498040" cy="525492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 anchorCtr="1">
            <a:noAutofit/>
          </a:bodyPr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5400" strike="noStrike" u="none">
                <a:solidFill>
                  <a:srgbClr val="777a7b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23 </a:t>
            </a:r>
            <a:r>
              <a:rPr b="0" lang="th-TH" sz="54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เขาเป็นคนปรนนิบัติของพระคริสต์หรือ ข้าพเจ้าเป็นดีกว่าพวกเขาเสียอีก</a:t>
            </a:r>
            <a:endParaRPr b="0" lang="en-US" sz="5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54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(</a:t>
            </a:r>
            <a:r>
              <a:rPr b="0" lang="th-TH" sz="54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ข้าพเจ้าพูดอย่างคนบ้า</a:t>
            </a:r>
            <a:r>
              <a:rPr b="0" lang="en-US" sz="54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) </a:t>
            </a:r>
            <a:endParaRPr b="0" lang="en-US" sz="5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54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ข้าพเจ้าตรากตรำยิ่งกว่าพวกเขา </a:t>
            </a:r>
            <a:endParaRPr b="0" lang="en-US" sz="5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54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ข้าพเจ้าติดคุกมากกว่าพวกเขา ข้าพเจ้า</a:t>
            </a:r>
            <a:endParaRPr b="0" lang="en-US" sz="5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54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ถูกโบยตีมากมาย ข้าพเจ้าหวิดตายบ่อยๆ </a:t>
            </a:r>
            <a:endParaRPr b="0" lang="en-US" sz="5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3"/>
          <p:cNvSpPr/>
          <p:nvPr/>
        </p:nvSpPr>
        <p:spPr>
          <a:xfrm>
            <a:off x="0" y="0"/>
            <a:ext cx="12191760" cy="6715800"/>
          </a:xfrm>
          <a:prstGeom prst="rect">
            <a:avLst/>
          </a:prstGeom>
          <a:solidFill>
            <a:srgbClr val="ffffff"/>
          </a:solidFill>
          <a:ln>
            <a:solidFill>
              <a:srgbClr val="e4831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588600" y="644040"/>
            <a:ext cx="102880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5000" lnSpcReduction="9999"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0" lang="en-US" sz="4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</a:rPr>
              <a:t> </a:t>
            </a:r>
            <a:br>
              <a:rPr sz="5400"/>
            </a:b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227520" y="436320"/>
            <a:ext cx="11375640" cy="4555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 anchorCtr="1">
            <a:noAutofit/>
          </a:bodyPr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5400" strike="noStrike" u="none">
                <a:solidFill>
                  <a:srgbClr val="777a7b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24  </a:t>
            </a:r>
            <a:r>
              <a:rPr b="0" lang="th-TH" sz="54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พวกยิวเฆี่ยนข้าพเจ้าห้าครั้ง</a:t>
            </a:r>
            <a:endParaRPr b="0" lang="en-US" sz="5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54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ครั้งละสามสิบเก้าที</a:t>
            </a:r>
            <a:endParaRPr b="0" lang="en-US" sz="5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5400" strike="noStrike" u="none">
                <a:solidFill>
                  <a:srgbClr val="777a7b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25  </a:t>
            </a:r>
            <a:r>
              <a:rPr b="0" lang="th-TH" sz="54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ข้าพเจ้าถูกตีด้วยไม้สามครั้ง</a:t>
            </a:r>
            <a:endParaRPr b="0" lang="en-US" sz="5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54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ถูกก้อนหินขว้างครั้งหนึ่ง</a:t>
            </a:r>
            <a:endParaRPr b="0" lang="en-US" sz="5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54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ข้าพเจ้าเผชิญภัยเรือแตกสามครั้ง ข้าพเจ้าลอยอยู่ในทะเลวันหนึ่งกับคืนหนึ่ง</a:t>
            </a:r>
            <a:endParaRPr b="0" lang="en-US" sz="5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3"/>
          <p:cNvSpPr/>
          <p:nvPr/>
        </p:nvSpPr>
        <p:spPr>
          <a:xfrm>
            <a:off x="0" y="0"/>
            <a:ext cx="12191760" cy="6715800"/>
          </a:xfrm>
          <a:prstGeom prst="rect">
            <a:avLst/>
          </a:prstGeom>
          <a:solidFill>
            <a:srgbClr val="ffffff"/>
          </a:solidFill>
          <a:ln>
            <a:solidFill>
              <a:srgbClr val="e4831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88600" y="644040"/>
            <a:ext cx="102880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5000" lnSpcReduction="9999"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0" lang="en-US" sz="4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</a:rPr>
              <a:t> </a:t>
            </a:r>
            <a:br>
              <a:rPr sz="5400"/>
            </a:b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-189360" y="520200"/>
            <a:ext cx="11876400" cy="4555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 anchorCtr="1">
            <a:noAutofit/>
          </a:bodyPr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5400" strike="noStrike" u="none">
                <a:solidFill>
                  <a:srgbClr val="777a7b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26  </a:t>
            </a:r>
            <a:r>
              <a:rPr b="0" lang="th-TH" sz="54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ข้าพเจ้าเดินทางบ่อยๆ ข้าพเจ้าเผชิญภัยในแม่น้ำ เผชิญโจรภัย </a:t>
            </a:r>
            <a:endParaRPr b="0" lang="en-US" sz="5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54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เผชิญภัยจากชนชาติของข้าพเจ้าเอง</a:t>
            </a:r>
            <a:endParaRPr b="0" lang="en-US" sz="5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54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 เผชิญภัยจากคนต่างชาติเผชิญภัยในเมือง </a:t>
            </a:r>
            <a:endParaRPr b="0" lang="en-US" sz="5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54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เผชิญภัยในป่า เผชิญภัยในทะเล    </a:t>
            </a:r>
            <a:endParaRPr b="0" lang="en-US" sz="5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54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เผชิญภัยจากพี่น้องจอมปลอม</a:t>
            </a:r>
            <a:endParaRPr b="0" lang="en-US" sz="5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3"/>
          <p:cNvSpPr/>
          <p:nvPr/>
        </p:nvSpPr>
        <p:spPr>
          <a:xfrm>
            <a:off x="0" y="0"/>
            <a:ext cx="12191760" cy="6715800"/>
          </a:xfrm>
          <a:prstGeom prst="rect">
            <a:avLst/>
          </a:prstGeom>
          <a:solidFill>
            <a:srgbClr val="ffffff"/>
          </a:solidFill>
          <a:ln>
            <a:solidFill>
              <a:srgbClr val="e4831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Pattaya"/>
              </a:rPr>
              <a:t>2 </a:t>
            </a:r>
            <a:r>
              <a:rPr b="0" lang="th-TH" sz="2400" strike="noStrike" u="none">
                <a:solidFill>
                  <a:schemeClr val="lt1"/>
                </a:solidFill>
                <a:effectLst/>
                <a:uFillTx/>
                <a:latin typeface="Pattaya"/>
                <a:cs typeface="Pattaya"/>
              </a:rPr>
              <a:t>โครินธ์ 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Pattaya"/>
              </a:rPr>
              <a:t>4:7-12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88600" y="644040"/>
            <a:ext cx="102880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5000" lnSpcReduction="9999"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0" lang="en-US" sz="4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</a:rPr>
              <a:t> </a:t>
            </a:r>
            <a:br>
              <a:rPr sz="5400"/>
            </a:b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-556920" y="430920"/>
            <a:ext cx="12349440" cy="451872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 anchorCtr="1">
            <a:noAutofit/>
          </a:bodyPr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6000" strike="noStrike" u="none">
                <a:solidFill>
                  <a:srgbClr val="777a7b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27  </a:t>
            </a:r>
            <a:r>
              <a:rPr b="0" lang="th-TH" sz="60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ต้องตรากตรำและลำบาก</a:t>
            </a:r>
            <a:endParaRPr b="0" lang="en-US" sz="6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60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ต้องอดหลับอดนอนบ่อยๆ </a:t>
            </a:r>
            <a:endParaRPr b="0" lang="en-US" sz="6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60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ต้องหิวและกระหาย</a:t>
            </a:r>
            <a:endParaRPr b="0" lang="en-US" sz="6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60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ต้องอดข้าวบ่อยๆ</a:t>
            </a:r>
            <a:endParaRPr b="0" lang="en-US" sz="6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th-TH" sz="60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  <a:cs typeface="Pattaya"/>
              </a:rPr>
              <a:t>ต้องทนหนาวและเปลือยกาย</a:t>
            </a:r>
            <a:endParaRPr b="0" lang="en-US" sz="6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algn="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Pattaya"/>
              </a:rPr>
              <a:t>2 </a:t>
            </a:r>
            <a:r>
              <a:rPr b="0" lang="th-TH" sz="4400" strike="noStrike" u="none">
                <a:solidFill>
                  <a:schemeClr val="dk2"/>
                </a:solidFill>
                <a:effectLst/>
                <a:uFillTx/>
                <a:latin typeface="Pattaya"/>
                <a:cs typeface="Pattaya"/>
              </a:rPr>
              <a:t>โครินธ์ </a:t>
            </a: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Pattaya"/>
              </a:rPr>
              <a:t>4:7-12</a:t>
            </a:r>
            <a:endParaRPr b="0" lang="en-US" sz="4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66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 </a:t>
            </a:r>
            <a:endParaRPr b="0" lang="en-US" sz="6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3"/>
          <p:cNvSpPr/>
          <p:nvPr/>
        </p:nvSpPr>
        <p:spPr>
          <a:xfrm>
            <a:off x="0" y="-20880"/>
            <a:ext cx="12191760" cy="6715800"/>
          </a:xfrm>
          <a:prstGeom prst="rect">
            <a:avLst/>
          </a:prstGeom>
          <a:solidFill>
            <a:srgbClr val="ffffff"/>
          </a:solidFill>
          <a:ln>
            <a:solidFill>
              <a:srgbClr val="e4831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th-TH" sz="2400" strike="noStrike" u="none">
                <a:solidFill>
                  <a:schemeClr val="lt1"/>
                </a:solidFill>
                <a:effectLst/>
                <a:uFillTx/>
                <a:latin typeface="Pattaya"/>
                <a:cs typeface="Pattaya"/>
              </a:rPr>
              <a:t>บากบั่นไม่ย่อท้อ รางวัลรออยู่ข้างหน้า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88600" y="644040"/>
            <a:ext cx="102880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5000" lnSpcReduction="9999"/>
          </a:bodyPr>
          <a:p>
            <a:pPr indent="0" algn="ctr" defTabSz="914400">
              <a:lnSpc>
                <a:spcPct val="120000"/>
              </a:lnSpc>
              <a:buNone/>
            </a:pPr>
            <a:r>
              <a:rPr b="0" lang="en-US" sz="44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Pattaya"/>
              </a:rPr>
              <a:t> </a:t>
            </a:r>
            <a:br>
              <a:rPr sz="5400"/>
            </a:b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-556920" y="430920"/>
            <a:ext cx="12349440" cy="451872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algn="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6600" strike="noStrike" u="none">
                <a:solidFill>
                  <a:srgbClr val="121212"/>
                </a:solidFill>
                <a:effectLst/>
                <a:highlight>
                  <a:srgbClr val="ffffff"/>
                </a:highlight>
                <a:uFillTx/>
                <a:latin typeface="Pattaya"/>
              </a:rPr>
              <a:t> </a:t>
            </a:r>
            <a:endParaRPr b="0" lang="en-US" sz="6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pic>
        <p:nvPicPr>
          <p:cNvPr id="162" name="Picture 5" descr=""/>
          <p:cNvPicPr/>
          <p:nvPr/>
        </p:nvPicPr>
        <p:blipFill>
          <a:blip r:embed="rId1"/>
          <a:stretch/>
        </p:blipFill>
        <p:spPr>
          <a:xfrm>
            <a:off x="2833560" y="349920"/>
            <a:ext cx="6860160" cy="463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Rectangle 4"/>
          <p:cNvSpPr/>
          <p:nvPr/>
        </p:nvSpPr>
        <p:spPr>
          <a:xfrm>
            <a:off x="1082520" y="5351760"/>
            <a:ext cx="10352160" cy="923040"/>
          </a:xfrm>
          <a:prstGeom prst="rect">
            <a:avLst/>
          </a:prstGeom>
          <a:noFill/>
          <a:ln w="0">
            <a:solidFill>
              <a:srgbClr val="bd582c"/>
            </a:solidFill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th-TH" sz="5400" strike="noStrike" u="none">
                <a:solidFill>
                  <a:schemeClr val="accent2"/>
                </a:solidFill>
                <a:effectLst/>
                <a:uFillTx/>
                <a:latin typeface="Pattaya"/>
                <a:cs typeface="Pattaya"/>
              </a:rPr>
              <a:t>บากบั่นไม่ย่อท้อ รางวัลรออยู่ข้างหน้า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1500">
        <p:split dir="out" orient="vert"/>
      </p:transition>
    </mc:Choice>
    <mc:Fallback>
      <p:transition spd="slow">
        <p:split dir="out" orient="vert"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308</TotalTime>
  <Application>LibreOffice/25.2.5.2$Linux_X86_64 LibreOffice_project/520$Build-2</Application>
  <AppVersion>15.0000</AppVersion>
  <Words>707</Words>
  <Paragraphs>102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2026-01-10T19:13:52Z</dcterms:created>
  <dc:creator>siri pichetwasin</dc:creator>
  <dc:description/>
  <dc:language>en-US</dc:language>
  <cp:lastModifiedBy/>
  <dcterms:modified xsi:type="dcterms:W3CDTF">2026-01-11T09:30:51Z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20</vt:i4>
  </property>
</Properties>
</file>